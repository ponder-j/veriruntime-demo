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8ecdb648114622" /><Relationship Type="http://schemas.openxmlformats.org/officeDocument/2006/relationships/extended-properties" Target="/docProps/app.xml" Id="R1604fd53de6e4bf6" /><Relationship Type="http://schemas.openxmlformats.org/officeDocument/2006/relationships/officeDocument" Target="/ppt/presentation.xml" Id="Rc597fe5658854e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7b0811b0ea4906"/>
  </p:sldMasterIdLst>
  <p:notesMasterIdLst>
    <p:notesMasterId xmlns:r="http://schemas.openxmlformats.org/officeDocument/2006/relationships" r:id="R2b7dbf397b5d4bbc"/>
  </p:notesMasterIdLst>
  <p:sldIdLst>
    <p:sldId xmlns:r="http://schemas.openxmlformats.org/officeDocument/2006/relationships" id="256" r:id="R8c35c7fa71c04008"/>
    <p:sldId xmlns:r="http://schemas.openxmlformats.org/officeDocument/2006/relationships" id="257" r:id="R264cdb8ac5694179"/>
    <p:sldId xmlns:r="http://schemas.openxmlformats.org/officeDocument/2006/relationships" id="258" r:id="R974bf9fc345244eb"/>
    <p:sldId xmlns:r="http://schemas.openxmlformats.org/officeDocument/2006/relationships" id="259" r:id="Rc01f1bb4b9174102"/>
    <p:sldId xmlns:r="http://schemas.openxmlformats.org/officeDocument/2006/relationships" id="260" r:id="Rbf46abbd2f7c40dd"/>
    <p:sldId xmlns:r="http://schemas.openxmlformats.org/officeDocument/2006/relationships" id="261" r:id="Rb38e04e1f7fe4196"/>
    <p:sldId xmlns:r="http://schemas.openxmlformats.org/officeDocument/2006/relationships" id="262" r:id="Re52c3251398a44dd"/>
    <p:sldId xmlns:r="http://schemas.openxmlformats.org/officeDocument/2006/relationships" id="263" r:id="R09e7f2998cc24f98"/>
    <p:sldId xmlns:r="http://schemas.openxmlformats.org/officeDocument/2006/relationships" id="264" r:id="R7fb29880ff6d42bf"/>
    <p:sldId xmlns:r="http://schemas.openxmlformats.org/officeDocument/2006/relationships" id="265" r:id="R1a58370f6f764f9c"/>
    <p:sldId xmlns:r="http://schemas.openxmlformats.org/officeDocument/2006/relationships" id="266" r:id="Re9b0d5f3bcbc4cc9"/>
    <p:sldId xmlns:r="http://schemas.openxmlformats.org/officeDocument/2006/relationships" id="267" r:id="R5516b37f1587484a"/>
    <p:sldId xmlns:r="http://schemas.openxmlformats.org/officeDocument/2006/relationships" id="268" r:id="R0fb667ef79b441c9"/>
    <p:sldId xmlns:r="http://schemas.openxmlformats.org/officeDocument/2006/relationships" id="269" r:id="Rdb2714b221234658"/>
    <p:sldId xmlns:r="http://schemas.openxmlformats.org/officeDocument/2006/relationships" id="270" r:id="R272da8e58c2f4a1e"/>
    <p:sldId xmlns:r="http://schemas.openxmlformats.org/officeDocument/2006/relationships" id="271" r:id="Rf9a4b4f5ab3b4be9"/>
    <p:sldId xmlns:r="http://schemas.openxmlformats.org/officeDocument/2006/relationships" id="272" r:id="Rf92b6aecde6b4c8e"/>
    <p:sldId xmlns:r="http://schemas.openxmlformats.org/officeDocument/2006/relationships" id="273" r:id="Re4ceff21e7304791"/>
    <p:sldId xmlns:r="http://schemas.openxmlformats.org/officeDocument/2006/relationships" id="274" r:id="R05d73c1c280f4a34"/>
    <p:sldId xmlns:r="http://schemas.openxmlformats.org/officeDocument/2006/relationships" id="275" r:id="R9e60f585a1df4755"/>
    <p:sldId xmlns:r="http://schemas.openxmlformats.org/officeDocument/2006/relationships" id="276" r:id="R8ec69f5cd9794720"/>
    <p:sldId xmlns:r="http://schemas.openxmlformats.org/officeDocument/2006/relationships" id="277" r:id="Rfd783747b22a4fdf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78b716182c43f5" /><Relationship Type="http://schemas.openxmlformats.org/officeDocument/2006/relationships/slideMaster" Target="/ppt/slideMasters/slideMaster1.xml" Id="Re47b0811b0ea4906" /><Relationship Type="http://schemas.openxmlformats.org/officeDocument/2006/relationships/notesMaster" Target="/ppt/notesMasters/notesMaster1.xml" Id="R2b7dbf397b5d4bbc" /><Relationship Type="http://schemas.openxmlformats.org/officeDocument/2006/relationships/presProps" Target="/ppt/presProps.xml" Id="R195231f9d04d4cd8" /><Relationship Type="http://schemas.openxmlformats.org/officeDocument/2006/relationships/tableStyles" Target="/ppt/tableStyles.xml" Id="R4e2c9b8881da4594" /><Relationship Type="http://schemas.openxmlformats.org/officeDocument/2006/relationships/slide" Target="/ppt/slides/slide1.xml" Id="R8c35c7fa71c04008" /><Relationship Type="http://schemas.openxmlformats.org/officeDocument/2006/relationships/slide" Target="/ppt/slides/slide2.xml" Id="R264cdb8ac5694179" /><Relationship Type="http://schemas.openxmlformats.org/officeDocument/2006/relationships/slide" Target="/ppt/slides/slide3.xml" Id="R974bf9fc345244eb" /><Relationship Type="http://schemas.openxmlformats.org/officeDocument/2006/relationships/slide" Target="/ppt/slides/slide4.xml" Id="Rc01f1bb4b9174102" /><Relationship Type="http://schemas.openxmlformats.org/officeDocument/2006/relationships/slide" Target="/ppt/slides/slide5.xml" Id="Rbf46abbd2f7c40dd" /><Relationship Type="http://schemas.openxmlformats.org/officeDocument/2006/relationships/slide" Target="/ppt/slides/slide6.xml" Id="Rb38e04e1f7fe4196" /><Relationship Type="http://schemas.openxmlformats.org/officeDocument/2006/relationships/slide" Target="/ppt/slides/slide7.xml" Id="Re52c3251398a44dd" /><Relationship Type="http://schemas.openxmlformats.org/officeDocument/2006/relationships/slide" Target="/ppt/slides/slide8.xml" Id="R09e7f2998cc24f98" /><Relationship Type="http://schemas.openxmlformats.org/officeDocument/2006/relationships/slide" Target="/ppt/slides/slide9.xml" Id="R7fb29880ff6d42bf" /><Relationship Type="http://schemas.openxmlformats.org/officeDocument/2006/relationships/slide" Target="/ppt/slides/slide10.xml" Id="R1a58370f6f764f9c" /><Relationship Type="http://schemas.openxmlformats.org/officeDocument/2006/relationships/slide" Target="/ppt/slides/slide11.xml" Id="Re9b0d5f3bcbc4cc9" /><Relationship Type="http://schemas.openxmlformats.org/officeDocument/2006/relationships/slide" Target="/ppt/slides/slide12.xml" Id="R5516b37f1587484a" /><Relationship Type="http://schemas.openxmlformats.org/officeDocument/2006/relationships/slide" Target="/ppt/slides/slide13.xml" Id="R0fb667ef79b441c9" /><Relationship Type="http://schemas.openxmlformats.org/officeDocument/2006/relationships/slide" Target="/ppt/slides/slide14.xml" Id="Rdb2714b221234658" /><Relationship Type="http://schemas.openxmlformats.org/officeDocument/2006/relationships/slide" Target="/ppt/slides/slide15.xml" Id="R272da8e58c2f4a1e" /><Relationship Type="http://schemas.openxmlformats.org/officeDocument/2006/relationships/slide" Target="/ppt/slides/slide16.xml" Id="Rf9a4b4f5ab3b4be9" /><Relationship Type="http://schemas.openxmlformats.org/officeDocument/2006/relationships/slide" Target="/ppt/slides/slide17.xml" Id="Rf92b6aecde6b4c8e" /><Relationship Type="http://schemas.openxmlformats.org/officeDocument/2006/relationships/slide" Target="/ppt/slides/slide18.xml" Id="Re4ceff21e7304791" /><Relationship Type="http://schemas.openxmlformats.org/officeDocument/2006/relationships/slide" Target="/ppt/slides/slide19.xml" Id="R05d73c1c280f4a34" /><Relationship Type="http://schemas.openxmlformats.org/officeDocument/2006/relationships/slide" Target="/ppt/slides/slide20.xml" Id="R9e60f585a1df4755" /><Relationship Type="http://schemas.openxmlformats.org/officeDocument/2006/relationships/slide" Target="/ppt/slides/slide21.xml" Id="R8ec69f5cd9794720" /><Relationship Type="http://schemas.openxmlformats.org/officeDocument/2006/relationships/slide" Target="/ppt/slides/slide22.xml" Id="Rfd783747b22a4f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40ccb6c9df42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40cd03c65c42d8" /><Relationship Type="http://schemas.openxmlformats.org/officeDocument/2006/relationships/notesMaster" Target="/ppt/notesMasters/notesMaster1.xml" Id="Rb221cc8f44be4d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834fbd4dab4770" /><Relationship Type="http://schemas.openxmlformats.org/officeDocument/2006/relationships/notesMaster" Target="/ppt/notesMasters/notesMaster1.xml" Id="R36f0b0cfae264f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3b9df849d54528" /><Relationship Type="http://schemas.openxmlformats.org/officeDocument/2006/relationships/notesMaster" Target="/ppt/notesMasters/notesMaster1.xml" Id="Re896be8ce67645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04cd6ecf814093" /><Relationship Type="http://schemas.openxmlformats.org/officeDocument/2006/relationships/notesMaster" Target="/ppt/notesMasters/notesMaster1.xml" Id="Rb37f11980bd14c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106fb0007043c6" /><Relationship Type="http://schemas.openxmlformats.org/officeDocument/2006/relationships/notesMaster" Target="/ppt/notesMasters/notesMaster1.xml" Id="R43fa572c0f3d4a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50c57d52af4198" /><Relationship Type="http://schemas.openxmlformats.org/officeDocument/2006/relationships/notesMaster" Target="/ppt/notesMasters/notesMaster1.xml" Id="R56acc60dc7bc47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31a9c8dbaa439b" /><Relationship Type="http://schemas.openxmlformats.org/officeDocument/2006/relationships/notesMaster" Target="/ppt/notesMasters/notesMaster1.xml" Id="R8ad9d59c0c3841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1bd50841b54099" /><Relationship Type="http://schemas.openxmlformats.org/officeDocument/2006/relationships/notesMaster" Target="/ppt/notesMasters/notesMaster1.xml" Id="Re1f4e71cd5be40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9cc8d61fdb4676" /><Relationship Type="http://schemas.openxmlformats.org/officeDocument/2006/relationships/notesMaster" Target="/ppt/notesMasters/notesMaster1.xml" Id="R83ce676a80504f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bd1fbfdea4442b" /><Relationship Type="http://schemas.openxmlformats.org/officeDocument/2006/relationships/notesMaster" Target="/ppt/notesMasters/notesMaster1.xml" Id="R2f872131156346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e7b0c59acf4dd4" /><Relationship Type="http://schemas.openxmlformats.org/officeDocument/2006/relationships/notesMaster" Target="/ppt/notesMasters/notesMaster1.xml" Id="R2dc0559b86c640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ed824c77e734918" /><Relationship Type="http://schemas.openxmlformats.org/officeDocument/2006/relationships/notesMaster" Target="/ppt/notesMasters/notesMaster1.xml" Id="R8422b041a1d94e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be6df056264f29" /><Relationship Type="http://schemas.openxmlformats.org/officeDocument/2006/relationships/notesMaster" Target="/ppt/notesMasters/notesMaster1.xml" Id="R70be64148c45424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fc9d891c44443d1" /><Relationship Type="http://schemas.openxmlformats.org/officeDocument/2006/relationships/notesMaster" Target="/ppt/notesMasters/notesMaster1.xml" Id="Rfb0e9eb19f2e444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4b66e8f1cbb45e6" /><Relationship Type="http://schemas.openxmlformats.org/officeDocument/2006/relationships/notesMaster" Target="/ppt/notesMasters/notesMaster1.xml" Id="Re19217cc01f04df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8620e8d2c5041cc" /><Relationship Type="http://schemas.openxmlformats.org/officeDocument/2006/relationships/notesMaster" Target="/ppt/notesMasters/notesMaster1.xml" Id="Rf43ddf849f55496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a0e56336f9e409e" /><Relationship Type="http://schemas.openxmlformats.org/officeDocument/2006/relationships/notesMaster" Target="/ppt/notesMasters/notesMaster1.xml" Id="R723eb11a9b76471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41a65af88eb4049" /><Relationship Type="http://schemas.openxmlformats.org/officeDocument/2006/relationships/notesMaster" Target="/ppt/notesMasters/notesMaster1.xml" Id="R0f788ac5c0ed4d5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22e5dc1ec4443d3" /><Relationship Type="http://schemas.openxmlformats.org/officeDocument/2006/relationships/notesMaster" Target="/ppt/notesMasters/notesMaster1.xml" Id="R3271d3219aa3423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1f11b3a6a984aa9" /><Relationship Type="http://schemas.openxmlformats.org/officeDocument/2006/relationships/notesMaster" Target="/ppt/notesMasters/notesMaster1.xml" Id="Rc4d453eb2f394eb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5b095c215c847f1" /><Relationship Type="http://schemas.openxmlformats.org/officeDocument/2006/relationships/notesMaster" Target="/ppt/notesMasters/notesMaster1.xml" Id="R38542d36e4b6422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0961e6ea3624cb8" /><Relationship Type="http://schemas.openxmlformats.org/officeDocument/2006/relationships/notesMaster" Target="/ppt/notesMasters/notesMaster1.xml" Id="R47758bb8316849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今天围绕一个明确的问题展开：上层已经给出源码、命题和要求之后，怎样把请求送到合适的验证器，并带着可追溯证据返回。项目最初是 macOS demo，目前已经在本机 Docker Linux 环境复现，并补上了可替换的执行后端接口。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我会用同一个真实断言例子走完输入、调度、命令、原始输出、结果和缓存，再说明哪些部分目前仍是小型原型。最后讨论更强的 Frama-C 与 Rocq 路径，重点看人或 LLM 编写的证明应如何进入执行链。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先明确框架当前的职责。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来源：README.md；docs/architecture.md；docs/advanced.md；Git 基线 513591c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三个角色的分工，是后面所有设计的基础。上层决定要证明什么，也承担语义内容的编写，比如前置条件、循环不变式和证明代码。运行时接收这些内容之后，只优化怎么执行：选工具、安排顺序、并行和回退。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执行后端更靠近基础设施，它接收已经选好的命令，负责进程生命周期和资源事实。后端没有 SAFE 这种结论，工具 adapter 才解释原始输出，运行时再按确认要求归并。当前可靠的验收入口，是固定 C 断言目标的多家族执行。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接下来把这三个角色放到一张架构图里。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来源：veriruntime/execution/backend.py；veriruntime/service.py；README.md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上层的请求先进入校验和源码快照，再形成逻辑目标。优化器读取工具资格和历史，为这个固定目标生成物理计划。引擎遍历计划，控制截止时间和并发，再把选好的命令交给执行后端。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 backend 与 adapter 是不同职责：backend 管生命周期，adapter 构造命令并解释日志。Docker 目前是 adapter 的传输包装，外层和容器内都使用 Local POSIX 后端；代码里还没有一个独立的 DockerExecutionBackend。右侧存储把计划、原始输出和最终结论联系起来。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先看哪些对象必须保持稳定。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来源：veriruntime/service.py；veriruntime/optimizer.py；veriruntime/runtime/engine.py；veriruntime/tools/docker.py；veriruntime/store.py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目标身份和执行身份需要分开。源码、入口、属性、数据模型以及确认要求构成目标的语义内容，它们发生变化，就不能沿用原来的结论。预算或标签变化，不等于命题变了，所以不进入 semantic_key。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物理计划是另一个对象：同一目标在不同机器、不同工具资格或不同历史下，可以生成不同的并行组合和回退顺序。每次调用又有独立的执行记录。缓存命中时仍建立新记录，并通过来源执行 ID 指向原始证据，不能只留下一个没有出处的 SAFE。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现在用实际 C 与 JSON 输入走一遍。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来源：veriruntime/model.py；veriruntime/plan.py；veriruntime/cache.py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左侧是完整的 C 程序，右侧保留了真实 JSON 的全部字段，只调整排版。source 路径相对任务文件解析。请求要求 C11、LP64 语义下的断言安全，至少两个不同家族确认，总预算三十秒、两 GiB、最多并行两个工具。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注意 DSL 没有 CBMC 或 ESBMC，也没有并行或顺序算子。那些是下层根据可用工具与成本决定的。上层的 min_confirmations 是证据要求，运行时不能为了速度把它改成一；程序中的命题也不能被下层替换成一个更容易通过的断言。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输入先被校验和封存，再进入优化器。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来源：examples/c/safe_assert.c；examples/tasks/safe_assert_crosscheck.json；veriruntime/dsl/verification-task.schema.json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这一步输出的不是文件名列表，而是内容快照。之后执行使用快照内的内容，避免源码在工具运行之间变化。真实例子把路径规范化为 c/safe_assert.c，并保存完整内容与 SHA-256。semantic_key 又把源码身份和目标语义、确认要求结合起来。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解析器采用严格边界：未知字段、上层指定工具策略和重复 JSON 键会拒绝；本地头文件只有支持的字面量依赖才递归处理。系统头文件并不来自这个快照，它们由工具镜像和配置环境约束。这样，两家族才是在明确记录的目标与环境下执行。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目标封存后，优化器决定具体运行方式。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来源：veriruntime/dsl/__init__.py；veriruntime/model.py；report-evidence.json: first.logical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这个例子来自新数据目录，工具还没有运行历史，因此三者使用零点五的确定率和工具配置中的耗时先验。CBMC 得分一，ESBMC 约零点七一四，CPAchecker 零点一二五。它们先经过能力与语义过滤，再按得分排序，每个家族最多保留一个工具。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历史之后，确定率按运行次数平滑，耗时用中位数；目前按很粗的任务大小桶聚合。这是一个方便实验和解释的启发式，没有学习出最优策略。资源装箱也依据静态估计，因此得分高或入选，都不代表它一定会启动或证明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这些候选被组装成下面的物理 AST。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来源：veriruntime/optimizer.py；report-evidence.json: first.optimization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三十秒按两个阶段等分，每阶段十五秒。第一阶段并行运行 CBMC 和 ESBMC；第二阶段保留给 CPAchecker。本例两家族都给出了 SAFE，达到请求要求，因此引擎结束目标，后备没有启动。入选工具列表包含三者，实际 attempts 只有两个。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计划时间片只是上界。引擎有目标的全局截止时间，还会扣除准备工作已经消耗的时间，所以真实 ExecutionSpec 中 CBMC 的剩余 wall limit 约十四点八六五秒。后备份额也不是无条件追加到总预算之后，更不能绕过全局并发限制。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接着看 AST 的 Run 如何变成执行命令。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来源：report-evidence.json: first.physical；veriruntime/runtime/engine.py；veriruntime/optimizer.py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先调用 adapter 准备独立工作区，再由 backend 启动 ExecutionSpec。展示的字段来自真实 CBMC 桥接记录；长目录在页上用占位代称，完整 argv 保留在证据 JSON。原生工具命令另存 native-command。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Outcome 只有退出码、日志、状态、时间和指标，没有验证结论。Local 后端负责 POSIX 进程组、超时、取消与清理；CPU 和内存 request 在它这里是元数据，Docker 的硬限制来自另一层。未来远程后端还须定义文件 staging、输出取回与环境身份，不能只实现启动函数。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Docker 的实际隔离放在下一张图中。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来源：veriruntime/execution/backend.py；veriruntime/execution/local.py；report-evidence.json: execution_specs</a:t>
            </a:r>
          </a:p>
          <a:p xmlns:a="http://schemas.openxmlformats.org/drawingml/2006/main">
            <a:r>
              <a:t>说明：argv 的 Python 路径和 attempt 目录在此缩写；完整值见 report-evidence.json。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控制容器只承担调度和存储，保留 Docker socket 以创建工具容器。每一次工具尝试只挂载属于自己的 volume subpath，到容器内的 work 目录；看不到另一工具的工作区，也看不到数据库或源 checkout。输入文件只读，缓存和临时目录各自独立。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这次请求两 GiB、最多并行两个，因此每个 worker 固定一 GiB，另有一 CPU 的 cgroup 限制。隔离防止验证结果污染，但共享宿主内核，也仍有控制层和 daemon 的额外成本；桥接进程的 RSS 不能当成 worker 的峰值内存。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容器启动后，原生 adapter 生成什么命令？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来源：compose.yaml；veriruntime/tools/docker_api.py；veriruntime/tools/docker.py；report-evidence.json: container_requests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两条命令的所有参数都来自真实 native-command，只把 argv 重新分行便于阅读。它们都使用展开上限六十四。CBMC 输出 JSON，解析器检查属性记录和最后的 cProverStatus；ESBMC 的详细结果实际出现在 stderr，所以不能只看 stdout 中的版本信息。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这里用户断言以及两项溢出属性都通过，退出码也是零。adapter 据此给出 SAFE。若只有成功关键词、属性表不完整，或展开断言失败，就不能当作证明完成。展开不足在当前实现中保守返回 UNKNOWN，避免把尚未覆盖的循环当成安全。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两份工具结果怎样归并为一次目标结论？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来源：report-evidence.json: native_commands / raw_outputs；veriruntime/tools/cbmc.py；veriruntime/tools/esbmc.py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两个工具几乎同时启动。CBMC 的 attempt 用时约一点零七六秒，ESBMC 约一点四一九秒；整个目标一点五七七秒，还包含准备、解析、工件保存和清理。图按 attempt 用时绘制，起点差异不足一毫秒。这些数字只描述这次本机记录，不能作为性能基准。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引擎按家族归并，不按进程数量投票。收到第一份 SAFE 后，确认要求还未满足，必须等待第二个家族。同一批已经完成的结果先一起解释，再决定是否提前停止；如果看到了相反确定结论，就报告冲突，不能用先到的两票把冲突隐藏掉。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归并结果会连同来源和工件一起返回。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来源：report-evidence.json: first.result / attempts / events；veriruntime/runtime/engine.py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输出是一个 workflow 报告，本例只有一个 goal。这里展示实际 result 的关键字段：SAFE、两个家族、要求满足、没有命中缓存，以及结束原因为 REQUIREMENTS_MET。调用者应该读取这些字段，CLI 的退出码零只表示 verify 操作执行完成。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结果还带二十五个工件引用，涵盖计划、命令、日志和来源身份。存储采用 SHA-256 内容寻址，再用数据库建立来源关联。两次工具尝试都有独立目录，保留原始 stdout 和 stderr，因此可以从目标结论逐层追到工具命令，而不是依赖摘要中的一句成功描述。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再提交相同请求，走的是缓存路径。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来源：report-evidence.json: first.result；veriruntime/artifacts.py；veriruntime/store.py；veriruntime/cli.py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重复请求先重新形成计划，再核验可复用证据。不是只看一个语义键对应的 SAFE，还要检查确认数、工具版本与配置、镜像身份、工件 hash 和来源执行。缓存不可用时，保存的 fallback 仍能实际执行。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这次目标用时约十六点八毫秒，attempt 列表为空，source_execution_id 指回第一次执行。没有启动验证命令，但工具环境可能仍需探测，所以不能把它描述成没有任何进程开销。若同一目标后来出现相反确定结论，缓存会失效；历史和旧证据保留，便于研究与排错。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多个目标以及失败情况还有额外语义边界。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来源：report-evidence.json: repeat；veriruntime/cache.py；veriruntime/optimizer.py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工作流扩展提供多个形式化目标和执行边，前置节点达到指定结论与确认数，后继才运行。但是这条边只是一道控制门槛，没有证明后一个命题能由前一个命题推出，也不会把前置结论自动变成假设。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未知、冲突和要求未满足必须分别保留。当前 planner 也受到同一原则约束：它只选择和校验已有形式化目标，不进行任意命题分解，不生成证明代码，也不能降低证据门槛。未来若要组合定理，需要新的显式逻辑依赖与工件绑定，而不是把 DAG 箭头理解成逻辑蕴含。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目前的验证范围，可以从真实验收矩阵看得更清楚。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来源：veriruntime/service.py；veriruntime/model.py；veriruntime/planner/codex.py；docs/advanced.md#llm-planner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这里汇总既有资格验证，测试数来自 M11 的验收记录，本次制作汇报没有把它改写成新一轮测试。基础 C 语料只有六个小例，四个安全、两个不安全。可选工具也在同一小语料以及一个长循环上实际跑过。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单家族扩展实验显式使用 min_confirmations 等于一，不能借此宣称满足双确认请求。长循环展示不同方法的覆盖差异，耗时只代表本机单案例。WP 两个求解器共享编码来源；Rocq 独立证明通过，只能说明提交命题被证明。这些实验验证了接入路径，也明确暴露了下一步需要研究的边界。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先看当前哪些执行设计仍是小型原型。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来源：docs/operations.md#validation；docs/verifier-lab.json；docs/advanced.md#lab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限制应当被当作研究入口。成本模型目前只按少量统计排序，提前停止会让慢工具和困难案例的观测不完整，因此直接学习中位数可能有偏差。时间和内存又是静态份额，后备单独运行时也无法借用先前工具的份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缓存只复用精确目标结论，还没有 VC 或证明附件粒度。能力字段存在，也不代表 adapter 已支持该属性，例如当前 memory_safety 没有可用工具。后端抽象已经建立，但远程文件 staging、环境资格和证据一致性还需定义。这些都应通过可重复实验或显式契约推进。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更强证据的第一块已有积木，是独立 Rocq 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来源：veriruntime/optimizer.py；veriruntime/cache.py；veriruntime/execution/backend.py；veriruntime/tools/registry.py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这条接口已经能实际执行。上层同时提交命题文件和证明文件，例子是对任意命题 P，P 蕴含 P。Correct 中的 intros 和 exact 由人或 LLM 写好，运行时不会自己发明证明。DSL 指明需要绑定的导出符号和内核证据要求。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目前这只是一项独立数学证明检查：它没有权威的 C 到 VC 导出来源，所以 VERIFIED 不等于某段 C 安全，输出明确保留 code_verdict 为 null，也不加入 C 家族的确认计数。这个小例的意义是把编译、绑定、假设审计和内核复查链条先做完整。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下一页看这条检查链具体保证了什么。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来源：examples/proofs/check.json；examples/proofs/Expected.v；examples/proofs/Correct.v；veriruntime/proofs/service.py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只看编译是否成功不够：一个与目标无关的真命题也能编译。运行时因此生成 Binding，把提交证明赋给要求的命题类型，错配就会拒绝。这段定义不是一个新证明，只是在检查上层已经提交的证据能否对应目标。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随后审计依赖假设，再用独立 rocq check 重新检查编译模块和依赖。当前原型采用严格闭合策略，正确例子通过，错配和 Admitted 两种负例都被拒绝。但是未来 WP 理论可能有明确模型参数和受信公理，不能直接照搬空公理策略，需要单独定义理论清单与可信边界。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要接入 C 契约，还缺少义务的权威来源和覆盖闭包。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来源：veriruntime/proofs/worker.py；veriruntime/proofs/dsl.py；docs/verifier-lab.json: rocq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完整集成需要补上三段关系：C 与权威 VC 的对应关系，证明与具体 VC 的对应关系，以及全部请求义务的覆盖关系。WP 或 Why3 导出完整 bundle，封存源码、契约、模型、理论和每个命题的 digest；运行时不能相信上层自己重抄的一份同名定理。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证明不足时返回 NEEDS_INPUT，把未完成义务和模块交给上层，人或 LLM 编写证明后再显式提交。等待期间释放容器。最终只有全部义务及依赖闭合，才返回 CONTRACT_VALID，而且结论保留契约前置条件。这整条 C 到内核证据的闭包目前仍是设计，图中的补证调度还未实现。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下一页给出建议的上层 DSL。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来源：docs/advanced.md#framac-rocq-design；examples/experiments/strong-contract.proposed.json</a:t>
            </a:r>
          </a:p>
          <a:p xmlns:a="http://schemas.openxmlformats.org/drawingml/2006/main">
            <a:r>
              <a:t>说明：虚线表示未来的补证 / 恢复路径；整条 C 契约闭包当前尚未实现。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DSL 继续只声明目标、要求和附件。第一轮给 C 与 ACSL、整数和内存语义、覆盖集合以及内核证据要求；没有证明时 proof_assets 为空。下层封存 bundle 后，上层第二轮提交 Rocq 文件，以及它对应哪一个权威命题。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页上为结构节选，完整稿在 examples 中。核心是 bundle 身份、VC 身份、命题 digest 和证明符号必须一致。仅证明一个后置条件，不能宣布全部义务完成；新增义务、过期声明和改变模型都需要重新处理。当前 verify 会拒绝这个 proposal 版本，不应拿它作已实现接口演示。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研究验收应测闭包与失败拒绝，而不只测工具成功率。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来源：examples/experiments/strong-contract.proposed.json；docs/advanced.md#framac-rocq-design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建议先完成一个可审计的强证据小闭包，再扩展规模。第一阶段选择明确的函数子集，导出全部义务并加入错配、漏证、过期和额外假设负例；验收重点是错误接受为零及来源可追溯，而不是只看几个正例通过。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调度实验则在同样预算和证据门槛下，对照静态 portfolio，记录超时、取消和资源，避免把降低要求当作加速。缓存与远程后端放在后续，先明确身份和恢复契约。现在已有镜像的本机，可以用这一条 quickstart 命令重新得到双家族结果和缓存来源；主线使用仍从 README 开始。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汇报到这里，接下来可以围绕 VC 权威性、覆盖闭包或实验方法讨论。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来源：README.md#example；scripts/quickstart.ps1；docs/advanced.md；docs/architecture.md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985f64346d4c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c86701d3094614" /><Relationship Type="http://schemas.openxmlformats.org/officeDocument/2006/relationships/slideLayout" Target="/ppt/slideLayouts/slideLayout1.xml" Id="R10b612caa61745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b612caa61745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c9fc42c6a4751" /><Relationship Type="http://schemas.openxmlformats.org/officeDocument/2006/relationships/notesSlide" Target="/ppt/notesSlides/notesSlide1.xml" Id="Rd3114fa5a3d249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858bfe3894cf0" /><Relationship Type="http://schemas.openxmlformats.org/officeDocument/2006/relationships/notesSlide" Target="/ppt/notesSlides/notesSlide2.xml" Id="Rd96c5d7eb55542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b672a4b454664" /><Relationship Type="http://schemas.openxmlformats.org/officeDocument/2006/relationships/notesSlide" Target="/ppt/notesSlides/notesSlide3.xml" Id="Re2dd7e575ba347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8e3e793f04f10" /><Relationship Type="http://schemas.openxmlformats.org/officeDocument/2006/relationships/notesSlide" Target="/ppt/notesSlides/notesSlide4.xml" Id="R2bc191f7b1c542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3451311c144d7" /><Relationship Type="http://schemas.openxmlformats.org/officeDocument/2006/relationships/notesSlide" Target="/ppt/notesSlides/notesSlide5.xml" Id="Rf7a9bf53d37548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6abfee0c4458f" /><Relationship Type="http://schemas.openxmlformats.org/officeDocument/2006/relationships/notesSlide" Target="/ppt/notesSlides/notesSlide6.xml" Id="R26d9c90b6db145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6514cf3da48bd" /><Relationship Type="http://schemas.openxmlformats.org/officeDocument/2006/relationships/notesSlide" Target="/ppt/notesSlides/notesSlide7.xml" Id="R746f274fa46541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11fa79b0d416f" /><Relationship Type="http://schemas.openxmlformats.org/officeDocument/2006/relationships/notesSlide" Target="/ppt/notesSlides/notesSlide8.xml" Id="R14ad322b0c404b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be655fc1244cb" /><Relationship Type="http://schemas.openxmlformats.org/officeDocument/2006/relationships/notesSlide" Target="/ppt/notesSlides/notesSlide9.xml" Id="R295cd6ecead54b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72302f2ef4fc6" /><Relationship Type="http://schemas.openxmlformats.org/officeDocument/2006/relationships/notesSlide" Target="/ppt/notesSlides/notesSlide10.xml" Id="R817c7c336e6f49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c947607534114" /><Relationship Type="http://schemas.openxmlformats.org/officeDocument/2006/relationships/notesSlide" Target="/ppt/notesSlides/notesSlide11.xml" Id="R36972e7056c84d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c6b6e54d74b25" /><Relationship Type="http://schemas.openxmlformats.org/officeDocument/2006/relationships/notesSlide" Target="/ppt/notesSlides/notesSlide12.xml" Id="Rcbf8121fb39d49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86ddfb0584a57" /><Relationship Type="http://schemas.openxmlformats.org/officeDocument/2006/relationships/notesSlide" Target="/ppt/notesSlides/notesSlide13.xml" Id="Rd3aa3d71ae0442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e891f80b64451" /><Relationship Type="http://schemas.openxmlformats.org/officeDocument/2006/relationships/notesSlide" Target="/ppt/notesSlides/notesSlide14.xml" Id="Rf0fe9461e7c64a1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060f5bf2049df" /><Relationship Type="http://schemas.openxmlformats.org/officeDocument/2006/relationships/notesSlide" Target="/ppt/notesSlides/notesSlide15.xml" Id="R243c091f3c2f4be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5d253f0d942b9" /><Relationship Type="http://schemas.openxmlformats.org/officeDocument/2006/relationships/notesSlide" Target="/ppt/notesSlides/notesSlide16.xml" Id="R1f1e8ab4f2ad46a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1998c41f648cf" /><Relationship Type="http://schemas.openxmlformats.org/officeDocument/2006/relationships/notesSlide" Target="/ppt/notesSlides/notesSlide17.xml" Id="Rcf298b719a05489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b76f6bf8d42b4" /><Relationship Type="http://schemas.openxmlformats.org/officeDocument/2006/relationships/notesSlide" Target="/ppt/notesSlides/notesSlide18.xml" Id="R6166e044d4a6471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1a721519842e1" /><Relationship Type="http://schemas.openxmlformats.org/officeDocument/2006/relationships/notesSlide" Target="/ppt/notesSlides/notesSlide19.xml" Id="R7edf831e648c484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864da8eed49ac" /><Relationship Type="http://schemas.openxmlformats.org/officeDocument/2006/relationships/notesSlide" Target="/ppt/notesSlides/notesSlide20.xml" Id="R15314bbdca974df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735cf6a144be8" /><Relationship Type="http://schemas.openxmlformats.org/officeDocument/2006/relationships/notesSlide" Target="/ppt/notesSlides/notesSlide21.xml" Id="Rfe7fede4046342e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7dbe3e2b943ef" /><Relationship Type="http://schemas.openxmlformats.org/officeDocument/2006/relationships/notesSlide" Target="/ppt/notesSlides/notesSlide22.xml" Id="R7abf9680563246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D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研究汇报 · 2026 / 10 / 06">
            <a:extLst xmlns:a="http://schemas.openxmlformats.org/drawingml/2006/main">
              <a:ext uri="{FF2B5EF4-FFF2-40B4-BE49-F238E27FC236}">
                <a16:creationId xmlns:a16="http://schemas.microsoft.com/office/drawing/2014/main" id="{A397BF0C-6044-4A70-B3AB-44CC548D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645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研究汇报 · 2026 / 10 / 06</a:t>
            </a:r>
          </a:p>
        </p:txBody>
      </p:sp>
      <p:sp>
        <p:nvSpPr>
          <p:cNvPr id="2" name="VeriRuntime">
            <a:extLst xmlns:a="http://schemas.openxmlformats.org/drawingml/2006/main">
              <a:ext uri="{FF2B5EF4-FFF2-40B4-BE49-F238E27FC236}">
                <a16:creationId xmlns:a16="http://schemas.microsoft.com/office/drawing/2014/main" id="{41C8983F-6B14-48E1-B5BA-1ED9DDC7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5375"/>
            <a:ext cx="16459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VeriRuntime</a:t>
            </a:r>
          </a:p>
        </p:txBody>
      </p:sp>
      <p:sp>
        <p:nvSpPr>
          <p:cNvPr id="3" name="固定目标的多验证器执行框架">
            <a:extLst xmlns:a="http://schemas.openxmlformats.org/drawingml/2006/main">
              <a:ext uri="{FF2B5EF4-FFF2-40B4-BE49-F238E27FC236}">
                <a16:creationId xmlns:a16="http://schemas.microsoft.com/office/drawing/2014/main" id="{A1A956D6-B316-4B31-9B71-E19B8E10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638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固定目标的多验证器执行框架</a:t>
            </a:r>
          </a:p>
        </p:txBody>
      </p:sp>
      <p:sp>
        <p:nvSpPr>
          <p:cNvPr id="4" name="从上层 DSL 到可追溯证据">
            <a:extLst xmlns:a="http://schemas.openxmlformats.org/drawingml/2006/main">
              <a:ext uri="{FF2B5EF4-FFF2-40B4-BE49-F238E27FC236}">
                <a16:creationId xmlns:a16="http://schemas.microsoft.com/office/drawing/2014/main" id="{4F83F2FC-19CE-4EF4-8B79-9F38C221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15621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0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从上层 DSL 到可追溯证据</a:t>
            </a:r>
          </a:p>
        </p:txBody>
      </p:sp>
      <p:sp>
        <p:nvSpPr>
          <p:cNvPr id="5" name="设计与架构  /  一次真实执行  /  强证明的下一步">
            <a:extLst xmlns:a="http://schemas.openxmlformats.org/drawingml/2006/main">
              <a:ext uri="{FF2B5EF4-FFF2-40B4-BE49-F238E27FC236}">
                <a16:creationId xmlns:a16="http://schemas.microsoft.com/office/drawing/2014/main" id="{3106AF45-DEB5-4E2F-A84E-E0661B5F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1619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设计与架构  /  一次真实执行  /  强证明的下一步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7192D-3716-46B9-A61A-04C3F12C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419850"/>
            <a:ext cx="16344900" cy="9525"/>
          </a:xfrm>
          <a:custGeom xmlns:a="http://schemas.openxmlformats.org/drawingml/2006/main">
            <a:pathLst>
              <a:path w="16344900" h="9525">
                <a:moveTo>
                  <a:pt x="0" y="0"/>
                </a:moveTo>
                <a:lnTo>
                  <a:pt x="16344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6C4BC"/>
            </a:solidFill>
            <a:prstDash val="solid"/>
          </a:ln>
        </p:spPr>
      </p:sp>
      <p:sp>
        <p:nvSpPr>
          <p:cNvPr id="7" name="Docker Linux 本机复现">
            <a:extLst xmlns:a="http://schemas.openxmlformats.org/drawingml/2006/main">
              <a:ext uri="{FF2B5EF4-FFF2-40B4-BE49-F238E27FC236}">
                <a16:creationId xmlns:a16="http://schemas.microsoft.com/office/drawing/2014/main" id="{E59748D9-868D-4C02-A714-C4C1F65C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953250"/>
            <a:ext cx="714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Docker Linux 本机复现</a:t>
            </a:r>
          </a:p>
        </p:txBody>
      </p:sp>
      <p:sp>
        <p:nvSpPr>
          <p:cNvPr id="8" name="CBMC · ESBMC · CPAchecker&#10;Ultimate · Frama-C · Roc">
            <a:extLst xmlns:a="http://schemas.openxmlformats.org/drawingml/2006/main">
              <a:ext uri="{FF2B5EF4-FFF2-40B4-BE49-F238E27FC236}">
                <a16:creationId xmlns:a16="http://schemas.microsoft.com/office/drawing/2014/main" id="{EAF8CE96-5F43-4E89-BCC8-D4AF9850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772400"/>
            <a:ext cx="933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CBMC · ESBMC · CPAchecker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Ultimate · Frama-C · Rocq</a:t>
            </a:r>
          </a:p>
        </p:txBody>
      </p:sp>
      <p:sp>
        <p:nvSpPr>
          <p:cNvPr id="9" name="22 页&#10;约 20–25 分钟">
            <a:extLst xmlns:a="http://schemas.openxmlformats.org/drawingml/2006/main">
              <a:ext uri="{FF2B5EF4-FFF2-40B4-BE49-F238E27FC236}">
                <a16:creationId xmlns:a16="http://schemas.microsoft.com/office/drawing/2014/main" id="{4430EBBD-F559-4ECB-9608-5B396B4D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7086600"/>
            <a:ext cx="3619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22 页</a:t>
            </a:r>
          </a:p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约 20–25 分钟</a:t>
            </a:r>
          </a:p>
        </p:txBody>
      </p:sp>
      <p:sp>
        <p:nvSpPr>
          <p:cNvPr id="10" name="VeriRuntime  ·  README.md  /  docs/architecture.md">
            <a:extLst xmlns:a="http://schemas.openxmlformats.org/drawingml/2006/main">
              <a:ext uri="{FF2B5EF4-FFF2-40B4-BE49-F238E27FC236}">
                <a16:creationId xmlns:a16="http://schemas.microsoft.com/office/drawing/2014/main" id="{276FB83E-A704-4DCA-92E1-5400C038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15500"/>
            <a:ext cx="1438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VeriRuntime  ·  README.md  /  docs/architecture.md</a:t>
            </a:r>
          </a:p>
        </p:txBody>
      </p:sp>
      <p:sp>
        <p:nvSpPr>
          <p:cNvPr id="11" name="01 / 22">
            <a:extLst xmlns:a="http://schemas.openxmlformats.org/drawingml/2006/main">
              <a:ext uri="{FF2B5EF4-FFF2-40B4-BE49-F238E27FC236}">
                <a16:creationId xmlns:a16="http://schemas.microsoft.com/office/drawing/2014/main" id="{07283974-5D0A-423A-976C-689AE73E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96774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725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01 / 22</a:t>
            </a:r>
          </a:p>
        </p:txBody>
      </p:sp>
    </p:spTree>
    <p:extLst>
      <p:ext uri="{BB962C8B-B14F-4D97-AF65-F5344CB8AC3E}">
        <p14:creationId xmlns:p14="http://schemas.microsoft.com/office/powerpoint/2010/main" val="21080037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D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1 / 定位">
            <a:extLst xmlns:a="http://schemas.openxmlformats.org/drawingml/2006/main">
              <a:ext uri="{FF2B5EF4-FFF2-40B4-BE49-F238E27FC236}">
                <a16:creationId xmlns:a16="http://schemas.microsoft.com/office/drawing/2014/main" id="{1B086CFA-3D1E-4818-813B-C21009FC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645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01 / 定位</a:t>
            </a:r>
          </a:p>
        </p:txBody>
      </p:sp>
      <p:sp>
        <p:nvSpPr>
          <p:cNvPr id="2" name="上层固定目标，下层选择执行方式">
            <a:extLst xmlns:a="http://schemas.openxmlformats.org/drawingml/2006/main">
              <a:ext uri="{FF2B5EF4-FFF2-40B4-BE49-F238E27FC236}">
                <a16:creationId xmlns:a16="http://schemas.microsoft.com/office/drawing/2014/main" id="{97F3F49D-05C9-49FC-B19F-9BF22374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5375"/>
            <a:ext cx="164592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上层固定目标，下层选择执行方式</a:t>
            </a:r>
          </a:p>
        </p:txBody>
      </p:sp>
      <p:sp>
        <p:nvSpPr>
          <p:cNvPr id="3" name="已有实现：验证执行、隔离、证据、复用；研究重点：效率与证据强度">
            <a:extLst xmlns:a="http://schemas.openxmlformats.org/drawingml/2006/main">
              <a:ext uri="{FF2B5EF4-FFF2-40B4-BE49-F238E27FC236}">
                <a16:creationId xmlns:a16="http://schemas.microsoft.com/office/drawing/2014/main" id="{E8DBB112-7728-4CF3-A9E6-2C23BB84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638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已有实现：验证执行、隔离、证据、复用；研究重点：效率与证据强度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914400" y="2857500"/>
          <a:ext xmlns:a="http://schemas.openxmlformats.org/drawingml/2006/main" cx="16459200" cy="5029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7048500"/>
                <a:gridCol w="6172200"/>
              </a:tblGrid>
              <a:tr h="125730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</a:t>
                      </a:r>
                    </a:p>
                  </a:txBody>
                  <a:tcPr marL="91440" marR="91440" marT="45720" marB="45720" anchor="ctr">
                    <a:solidFill>
                      <a:srgbClr val="1A3A7A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输入或职责</a:t>
                      </a:r>
                    </a:p>
                  </a:txBody>
                  <a:tcPr marL="91440" marR="91440" marT="45720" marB="45720" anchor="ctr">
                    <a:solidFill>
                      <a:srgbClr val="1A3A7A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必须守住的边界</a:t>
                      </a:r>
                    </a:p>
                  </a:txBody>
                  <a:tcPr marL="91440" marR="91440" marT="45720" marB="45720" anchor="ctr">
                    <a:solidFill>
                      <a:srgbClr val="1A3A7A"/>
                    </a:solidFill>
                  </a:tcPr>
                </a:tc>
              </a:tr>
              <a:tr h="125730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0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 / 上层 LLM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0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源码、属性、语义、要求、预算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0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必要时编写 invariant / lemma / .v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0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只有上层能改变命题或假设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0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VeriRuntime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0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选择家族与顺序；并行 / 回退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0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核验缓存；解释与归并证据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0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优化执行方式，保持目标不变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0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ExecutionBackend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0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启动、等待、取消、指标、清理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0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执行已选择的 argv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0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返回原始执行事实，不判断 SAFE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当前验收主线：C 断言安全 + 至少两个不同家族确认">
            <a:extLst xmlns:a="http://schemas.openxmlformats.org/drawingml/2006/main">
              <a:ext uri="{FF2B5EF4-FFF2-40B4-BE49-F238E27FC236}">
                <a16:creationId xmlns:a16="http://schemas.microsoft.com/office/drawing/2014/main" id="{B0A11021-EC00-4024-B25A-BF2C1718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29625"/>
            <a:ext cx="1619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当前验收主线：C 断言安全 + 至少两个不同家族确认</a:t>
            </a:r>
          </a:p>
        </p:txBody>
      </p:sp>
      <p:sp>
        <p:nvSpPr>
          <p:cNvPr id="6" name="VeriRuntime  ·  veriruntime/execution/backend.py  ">
            <a:extLst xmlns:a="http://schemas.openxmlformats.org/drawingml/2006/main">
              <a:ext uri="{FF2B5EF4-FFF2-40B4-BE49-F238E27FC236}">
                <a16:creationId xmlns:a16="http://schemas.microsoft.com/office/drawing/2014/main" id="{C5CF36E8-6EDD-413F-8347-9174C21F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15500"/>
            <a:ext cx="1438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VeriRuntime  ·  veriruntime/execution/backend.py  /  veriruntime/service.py</a:t>
            </a:r>
          </a:p>
        </p:txBody>
      </p:sp>
      <p:sp>
        <p:nvSpPr>
          <p:cNvPr id="7" name="02 / 22">
            <a:extLst xmlns:a="http://schemas.openxmlformats.org/drawingml/2006/main">
              <a:ext uri="{FF2B5EF4-FFF2-40B4-BE49-F238E27FC236}">
                <a16:creationId xmlns:a16="http://schemas.microsoft.com/office/drawing/2014/main" id="{199B75C7-8D52-4F47-868B-526E9BC6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96774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725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02 / 22</a:t>
            </a:r>
          </a:p>
        </p:txBody>
      </p:sp>
    </p:spTree>
    <p:extLst>
      <p:ext uri="{BB962C8B-B14F-4D97-AF65-F5344CB8AC3E}">
        <p14:creationId xmlns:p14="http://schemas.microsoft.com/office/powerpoint/2010/main" val="16413224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D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02 / 总体架构">
            <a:extLst xmlns:a="http://schemas.openxmlformats.org/drawingml/2006/main">
              <a:ext uri="{FF2B5EF4-FFF2-40B4-BE49-F238E27FC236}">
                <a16:creationId xmlns:a16="http://schemas.microsoft.com/office/drawing/2014/main" id="{EE53A274-28FF-419B-AF93-47793F4D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645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02 / 总体架构</a:t>
            </a:r>
          </a:p>
        </p:txBody>
      </p:sp>
      <p:sp>
        <p:nvSpPr>
          <p:cNvPr id="2" name="逻辑、调度与基础设施形成三层边界">
            <a:extLst xmlns:a="http://schemas.openxmlformats.org/drawingml/2006/main">
              <a:ext uri="{FF2B5EF4-FFF2-40B4-BE49-F238E27FC236}">
                <a16:creationId xmlns:a16="http://schemas.microsoft.com/office/drawing/2014/main" id="{8E657D4C-8D2D-4029-8F8C-3CF6ABCA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5375"/>
            <a:ext cx="164592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逻辑、调度与基础设施形成三层边界</a:t>
            </a:r>
          </a:p>
        </p:txBody>
      </p:sp>
      <p:sp>
        <p:nvSpPr>
          <p:cNvPr id="3" name="上层目标进入调度；adapter 与 backend 分担命令解释、执行生命周期和原始证据">
            <a:extLst xmlns:a="http://schemas.openxmlformats.org/drawingml/2006/main">
              <a:ext uri="{FF2B5EF4-FFF2-40B4-BE49-F238E27FC236}">
                <a16:creationId xmlns:a16="http://schemas.microsoft.com/office/drawing/2014/main" id="{6997E03E-B157-4E43-A56B-3B543837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638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上层目标进入调度；adapter 与 backend 分担命令解释、执行生命周期和原始证据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8B6DD-DB9E-4912-8230-5A2712D2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19500"/>
            <a:ext cx="952500" cy="9525"/>
          </a:xfrm>
          <a:custGeom xmlns:a="http://schemas.openxmlformats.org/drawingml/2006/main"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A3A7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84DFF-3103-4FB8-937F-8297FCBF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43300"/>
            <a:ext cx="190500" cy="152400"/>
          </a:xfrm>
          <a:custGeom xmlns:a="http://schemas.openxmlformats.org/drawingml/2006/main">
            <a:pathLst>
              <a:path w="190500" h="152400">
                <a:moveTo>
                  <a:pt x="19050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1A3A7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F7038-88A1-4B88-BC1D-BF2A70AF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81500"/>
            <a:ext cx="9525" cy="857250"/>
          </a:xfrm>
          <a:custGeom xmlns:a="http://schemas.openxmlformats.org/drawingml/2006/main">
            <a:pathLst>
              <a:path w="9525"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A3A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E6453-B600-4593-8A21-601ADEF6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48250"/>
            <a:ext cx="152400" cy="190500"/>
          </a:xfrm>
          <a:custGeom xmlns:a="http://schemas.openxmlformats.org/drawingml/2006/main">
            <a:pathLst>
              <a:path w="152400" h="190500">
                <a:moveTo>
                  <a:pt x="76200" y="190500"/>
                </a:moveTo>
                <a:lnTo>
                  <a:pt x="1524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A3A7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5A160D-F28F-4E33-BFEF-B333234D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048250"/>
            <a:ext cx="1181100" cy="952500"/>
          </a:xfrm>
          <a:custGeom xmlns:a="http://schemas.openxmlformats.org/drawingml/2006/main">
            <a:pathLst>
              <a:path w="1181100" h="952500">
                <a:moveTo>
                  <a:pt x="0" y="952500"/>
                </a:moveTo>
                <a:lnTo>
                  <a:pt x="609600" y="952500"/>
                </a:lnTo>
                <a:lnTo>
                  <a:pt x="609600" y="0"/>
                </a:lnTo>
                <a:lnTo>
                  <a:pt x="1181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A3A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4490E-EF42-4B3C-A391-53ABA83F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972050"/>
            <a:ext cx="190500" cy="152400"/>
          </a:xfrm>
          <a:custGeom xmlns:a="http://schemas.openxmlformats.org/drawingml/2006/main">
            <a:pathLst>
              <a:path w="190500" h="152400">
                <a:moveTo>
                  <a:pt x="19050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1A3A7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B424B1-4583-4BDD-806B-19821F99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048375"/>
            <a:ext cx="3028950" cy="1333500"/>
          </a:xfrm>
          <a:custGeom xmlns:a="http://schemas.openxmlformats.org/drawingml/2006/main">
            <a:pathLst>
              <a:path w="3028950" h="1333500">
                <a:moveTo>
                  <a:pt x="3028950" y="0"/>
                </a:moveTo>
                <a:lnTo>
                  <a:pt x="3028950" y="981075"/>
                </a:lnTo>
                <a:lnTo>
                  <a:pt x="0" y="981075"/>
                </a:lnTo>
                <a:lnTo>
                  <a:pt x="0" y="1333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A3A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6C6D7-DB96-404E-A9A7-1EC543D8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7191375"/>
            <a:ext cx="152400" cy="190500"/>
          </a:xfrm>
          <a:custGeom xmlns:a="http://schemas.openxmlformats.org/drawingml/2006/main">
            <a:pathLst>
              <a:path w="152400" h="190500">
                <a:moveTo>
                  <a:pt x="76200" y="190500"/>
                </a:moveTo>
                <a:lnTo>
                  <a:pt x="1524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A3A7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3C0042-CEA4-47EB-B643-AD2DD7A3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8001000"/>
            <a:ext cx="1000125" cy="9525"/>
          </a:xfrm>
          <a:custGeom xmlns:a="http://schemas.openxmlformats.org/drawingml/2006/main">
            <a:pathLst>
              <a:path w="1000125" h="9525">
                <a:moveTo>
                  <a:pt x="10001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A3A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4EFF91-10C4-420A-ACF9-78128F2F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7924800"/>
            <a:ext cx="190500" cy="152400"/>
          </a:xfrm>
          <a:custGeom xmlns:a="http://schemas.openxmlformats.org/drawingml/2006/main">
            <a:pathLst>
              <a:path w="190500" h="152400">
                <a:moveTo>
                  <a:pt x="0" y="76200"/>
                </a:moveTo>
                <a:lnTo>
                  <a:pt x="190500" y="152400"/>
                </a:lnTo>
                <a:lnTo>
                  <a:pt x="190500" y="0"/>
                </a:lnTo>
                <a:close/>
              </a:path>
            </a:pathLst>
          </a:custGeom>
          <a:solidFill xmlns:a="http://schemas.openxmlformats.org/drawingml/2006/main">
            <a:srgbClr val="1A3A7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BE9BC-5163-4E90-8C9D-E4F6E33C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6048375"/>
            <a:ext cx="9525" cy="1333500"/>
          </a:xfrm>
          <a:custGeom xmlns:a="http://schemas.openxmlformats.org/drawingml/2006/main"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A3A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6B173E-537C-46B2-B0D0-676ACD3C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7191375"/>
            <a:ext cx="152400" cy="190500"/>
          </a:xfrm>
          <a:custGeom xmlns:a="http://schemas.openxmlformats.org/drawingml/2006/main">
            <a:pathLst>
              <a:path w="152400" h="190500">
                <a:moveTo>
                  <a:pt x="76200" y="190500"/>
                </a:moveTo>
                <a:lnTo>
                  <a:pt x="1524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A3A7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AC78BD-C62E-4745-8B9E-16362476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8001000"/>
            <a:ext cx="1000125" cy="9525"/>
          </a:xfrm>
          <a:custGeom xmlns:a="http://schemas.openxmlformats.org/drawingml/2006/main"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A3A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4FFF4F-02D8-48FE-92C2-0D5771F9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924800"/>
            <a:ext cx="190500" cy="152400"/>
          </a:xfrm>
          <a:custGeom xmlns:a="http://schemas.openxmlformats.org/drawingml/2006/main">
            <a:pathLst>
              <a:path w="190500" h="152400">
                <a:moveTo>
                  <a:pt x="19050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1A3A7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9CE681-F45C-44AC-9E51-558C684E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39052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D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19" name="上层：人 / LLM&#10;C + DSL + 证明附件">
            <a:extLst xmlns:a="http://schemas.openxmlformats.org/drawingml/2006/main">
              <a:ext uri="{FF2B5EF4-FFF2-40B4-BE49-F238E27FC236}">
                <a16:creationId xmlns:a16="http://schemas.microsoft.com/office/drawing/2014/main" id="{122BDA57-E4B8-492F-A612-A9E7696A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47085"/>
            <a:ext cx="3638550" cy="1021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上层：人 / LLM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7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C + DSL + 证明附件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3DB09E-666B-4613-9A9A-32CEDACC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57500"/>
            <a:ext cx="4953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21" name="校验 / 源码快照&#10;LogicalGoal / Workflow">
            <a:extLst xmlns:a="http://schemas.openxmlformats.org/drawingml/2006/main">
              <a:ext uri="{FF2B5EF4-FFF2-40B4-BE49-F238E27FC236}">
                <a16:creationId xmlns:a16="http://schemas.microsoft.com/office/drawing/2014/main" id="{E1318854-1A0C-4403-8BDD-161F0EEB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08020"/>
            <a:ext cx="4686300" cy="918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校验 / 源码快照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LogicalGoal / Workflow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FF1352-74B9-48CE-A8AB-2DB5E3AC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238750"/>
            <a:ext cx="4953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23" name="Optimizer&#10;工具资格、历史成本、缓存">
            <a:extLst xmlns:a="http://schemas.openxmlformats.org/drawingml/2006/main">
              <a:ext uri="{FF2B5EF4-FFF2-40B4-BE49-F238E27FC236}">
                <a16:creationId xmlns:a16="http://schemas.microsoft.com/office/drawing/2014/main" id="{F03D3BF6-FCB5-478D-96E7-26F1040D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89270"/>
            <a:ext cx="4686300" cy="918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Optimizer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工具资格、历史成本、缓存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EE9527-432A-4CB4-8930-A60DCB3F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048125"/>
            <a:ext cx="5334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D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25" name="RuntimeEngine&#10;物理 AST、预算、结果归并">
            <a:extLst xmlns:a="http://schemas.openxmlformats.org/drawingml/2006/main">
              <a:ext uri="{FF2B5EF4-FFF2-40B4-BE49-F238E27FC236}">
                <a16:creationId xmlns:a16="http://schemas.microsoft.com/office/drawing/2014/main" id="{918AB352-A2B3-491B-B092-1C0ECB2C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4636770"/>
            <a:ext cx="5067300" cy="918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RuntimeEngine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物理 AST、预算、结果归并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1990AA-0972-423B-BEA6-D268DB23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81875"/>
            <a:ext cx="4667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27" name="ExecutionBackend&#10;当前 Local POSIX">
            <a:extLst xmlns:a="http://schemas.openxmlformats.org/drawingml/2006/main">
              <a:ext uri="{FF2B5EF4-FFF2-40B4-BE49-F238E27FC236}">
                <a16:creationId xmlns:a16="http://schemas.microsoft.com/office/drawing/2014/main" id="{953A5CE4-A048-452E-A3B8-5854CCAA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589520"/>
            <a:ext cx="4400550" cy="918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ExecutionBackend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当前 Local POSIX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D1E59C-37D9-42C8-B8D3-14858135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381875"/>
            <a:ext cx="5762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29" name="工具 adapter + Docker transport&#10;命令构造 / 证据解析">
            <a:extLst xmlns:a="http://schemas.openxmlformats.org/drawingml/2006/main">
              <a:ext uri="{FF2B5EF4-FFF2-40B4-BE49-F238E27FC236}">
                <a16:creationId xmlns:a16="http://schemas.microsoft.com/office/drawing/2014/main" id="{036D0509-AAB5-4EE5-A1A9-C4E0EF76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589520"/>
            <a:ext cx="5495925" cy="918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工具 adapter + Docker transport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命令构造 / 证据解析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3C948F-973D-46FD-9FD2-41B970AD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381875"/>
            <a:ext cx="3905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31" name="SQLite + ArtifactStore&#10;历史 / 环境锁 / SHA-256">
            <a:extLst xmlns:a="http://schemas.openxmlformats.org/drawingml/2006/main">
              <a:ext uri="{FF2B5EF4-FFF2-40B4-BE49-F238E27FC236}">
                <a16:creationId xmlns:a16="http://schemas.microsoft.com/office/drawing/2014/main" id="{79A11C0E-8A6E-48E0-B929-8356AABB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7589520"/>
            <a:ext cx="3638550" cy="918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SQLite + ArtifactStore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历史 / 环境锁 / SHA-256</a:t>
            </a:r>
          </a:p>
        </p:txBody>
      </p:sp>
      <p:sp>
        <p:nvSpPr>
          <p:cNvPr id="32" name="CLI → service → optimizer → engine → backend / ada">
            <a:extLst xmlns:a="http://schemas.openxmlformats.org/drawingml/2006/main">
              <a:ext uri="{FF2B5EF4-FFF2-40B4-BE49-F238E27FC236}">
                <a16:creationId xmlns:a16="http://schemas.microsoft.com/office/drawing/2014/main" id="{8635048D-91C6-4202-B591-7F4699AC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972550"/>
            <a:ext cx="1609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CLI → service → optimizer → engine → backend / adapter → evidence</a:t>
            </a:r>
          </a:p>
        </p:txBody>
      </p:sp>
      <p:sp>
        <p:nvSpPr>
          <p:cNvPr id="33" name="VeriRuntime  ·  veriruntime/service.py  /  verirun">
            <a:extLst xmlns:a="http://schemas.openxmlformats.org/drawingml/2006/main">
              <a:ext uri="{FF2B5EF4-FFF2-40B4-BE49-F238E27FC236}">
                <a16:creationId xmlns:a16="http://schemas.microsoft.com/office/drawing/2014/main" id="{61417F46-AB1D-48EA-BF97-B16C004D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15500"/>
            <a:ext cx="1438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VeriRuntime  ·  veriruntime/service.py  /  veriruntime/optimizer.py</a:t>
            </a:r>
          </a:p>
        </p:txBody>
      </p:sp>
      <p:sp>
        <p:nvSpPr>
          <p:cNvPr id="34" name="03 / 22">
            <a:extLst xmlns:a="http://schemas.openxmlformats.org/drawingml/2006/main">
              <a:ext uri="{FF2B5EF4-FFF2-40B4-BE49-F238E27FC236}">
                <a16:creationId xmlns:a16="http://schemas.microsoft.com/office/drawing/2014/main" id="{E2689C97-6C81-432F-8E4E-67FA37FB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96774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725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03 / 22</a:t>
            </a:r>
          </a:p>
        </p:txBody>
      </p:sp>
    </p:spTree>
    <p:extLst>
      <p:ext uri="{BB962C8B-B14F-4D97-AF65-F5344CB8AC3E}">
        <p14:creationId xmlns:p14="http://schemas.microsoft.com/office/powerpoint/2010/main" val="15526928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D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3 / 核心对象">
            <a:extLst xmlns:a="http://schemas.openxmlformats.org/drawingml/2006/main">
              <a:ext uri="{FF2B5EF4-FFF2-40B4-BE49-F238E27FC236}">
                <a16:creationId xmlns:a16="http://schemas.microsoft.com/office/drawing/2014/main" id="{D70DB9DE-C069-4AFF-9486-DDFF945F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645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03 / 核心对象</a:t>
            </a:r>
          </a:p>
        </p:txBody>
      </p:sp>
      <p:sp>
        <p:nvSpPr>
          <p:cNvPr id="2" name="一个语义目标，可以有多个物理计划">
            <a:extLst xmlns:a="http://schemas.openxmlformats.org/drawingml/2006/main">
              <a:ext uri="{FF2B5EF4-FFF2-40B4-BE49-F238E27FC236}">
                <a16:creationId xmlns:a16="http://schemas.microsoft.com/office/drawing/2014/main" id="{C6A9A40B-A9B5-4E78-B1AE-16C842E8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5375"/>
            <a:ext cx="164592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一个语义目标，可以有多个物理计划</a:t>
            </a:r>
          </a:p>
        </p:txBody>
      </p:sp>
      <p:sp>
        <p:nvSpPr>
          <p:cNvPr id="3" name="LogicalGoal 表示 WHAT；Run / Parallel / Sequence / Ca">
            <a:extLst xmlns:a="http://schemas.openxmlformats.org/drawingml/2006/main">
              <a:ext uri="{FF2B5EF4-FFF2-40B4-BE49-F238E27FC236}">
                <a16:creationId xmlns:a16="http://schemas.microsoft.com/office/drawing/2014/main" id="{125DC61E-B406-4B3F-8CFF-97E510AA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638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LogicalGoal 表示 WHAT；Run / Parallel / Sequence / CacheLookup 表示 HOW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914400" y="2781300"/>
          <a:ext xmlns:a="http://schemas.openxmlformats.org/drawingml/2006/main" cx="16459200" cy="5524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43250"/>
                <a:gridCol w="8001000"/>
                <a:gridCol w="5314950"/>
              </a:tblGrid>
              <a:tr h="110490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91440" marR="91440" marT="45720" marB="45720" anchor="ctr">
                    <a:solidFill>
                      <a:srgbClr val="1A3A7A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包含什么</a:t>
                      </a:r>
                    </a:p>
                  </a:txBody>
                  <a:tcPr marL="91440" marR="91440" marT="45720" marB="45720" anchor="ctr">
                    <a:solidFill>
                      <a:srgbClr val="1A3A7A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什么时候变化</a:t>
                      </a:r>
                    </a:p>
                  </a:txBody>
                  <a:tcPr marL="91440" marR="91440" marT="45720" marB="45720" anchor="ctr">
                    <a:solidFill>
                      <a:srgbClr val="1A3A7A"/>
                    </a:solidFill>
                  </a:tcPr>
                </a:tc>
              </a:tr>
              <a:tr h="110490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32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逻辑目标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32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源文件快照、入口、属性、C 语义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32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不同家族的最少确认数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32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上层明确提交语义变更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0490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32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semantic_key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32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逻辑路径和内容 hash + 语义 + 要求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32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 / 命题 / 确认要求变化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0490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32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 AST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32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具体工具、并行组合、时间片、回退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32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可包在 CacheLookup 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32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工具环境 / 历史 / 预算变化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0490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32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执行记录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32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goal execution id / attempt id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32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命令、日志、指标、结果、工件 hash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32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每次执行建立新记录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标签、预算、工具选择和 hints 不进入语义键；缓存还须独立校验环境与证据。">
            <a:extLst xmlns:a="http://schemas.openxmlformats.org/drawingml/2006/main">
              <a:ext uri="{FF2B5EF4-FFF2-40B4-BE49-F238E27FC236}">
                <a16:creationId xmlns:a16="http://schemas.microsoft.com/office/drawing/2014/main" id="{608B2F9B-24BF-48D8-AC7D-1CFEAF74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915400"/>
            <a:ext cx="1619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标签、预算、工具选择和 hints 不进入语义键；缓存还须独立校验环境与证据。</a:t>
            </a:r>
          </a:p>
        </p:txBody>
      </p:sp>
      <p:sp>
        <p:nvSpPr>
          <p:cNvPr id="6" name="VeriRuntime  ·  veriruntime/model.py  /  verirunti">
            <a:extLst xmlns:a="http://schemas.openxmlformats.org/drawingml/2006/main">
              <a:ext uri="{FF2B5EF4-FFF2-40B4-BE49-F238E27FC236}">
                <a16:creationId xmlns:a16="http://schemas.microsoft.com/office/drawing/2014/main" id="{BD91783F-C791-4C4A-ADB5-54D12C0C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15500"/>
            <a:ext cx="1438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VeriRuntime  ·  veriruntime/model.py  /  veriruntime/plan.py</a:t>
            </a:r>
          </a:p>
        </p:txBody>
      </p:sp>
      <p:sp>
        <p:nvSpPr>
          <p:cNvPr id="7" name="04 / 22">
            <a:extLst xmlns:a="http://schemas.openxmlformats.org/drawingml/2006/main">
              <a:ext uri="{FF2B5EF4-FFF2-40B4-BE49-F238E27FC236}">
                <a16:creationId xmlns:a16="http://schemas.microsoft.com/office/drawing/2014/main" id="{06C9E435-F54F-4E5F-AF5D-F2EC67D5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96774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725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22</a:t>
            </a:r>
          </a:p>
        </p:txBody>
      </p:sp>
    </p:spTree>
    <p:extLst>
      <p:ext uri="{BB962C8B-B14F-4D97-AF65-F5344CB8AC3E}">
        <p14:creationId xmlns:p14="http://schemas.microsoft.com/office/powerpoint/2010/main" val="2755106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D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04 / 示例输入">
            <a:extLst xmlns:a="http://schemas.openxmlformats.org/drawingml/2006/main">
              <a:ext uri="{FF2B5EF4-FFF2-40B4-BE49-F238E27FC236}">
                <a16:creationId xmlns:a16="http://schemas.microsoft.com/office/drawing/2014/main" id="{B87AFD68-7246-41E3-8D40-15AE72F5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645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04 / 示例输入</a:t>
            </a:r>
          </a:p>
        </p:txBody>
      </p:sp>
      <p:sp>
        <p:nvSpPr>
          <p:cNvPr id="2" name="上层提供程序和要求，不指定验证器">
            <a:extLst xmlns:a="http://schemas.openxmlformats.org/drawingml/2006/main">
              <a:ext uri="{FF2B5EF4-FFF2-40B4-BE49-F238E27FC236}">
                <a16:creationId xmlns:a16="http://schemas.microsoft.com/office/drawing/2014/main" id="{88A79C69-725C-40C3-A6F5-C7175C98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5375"/>
            <a:ext cx="164592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上层提供程序和要求，不指定验证器</a:t>
            </a:r>
          </a:p>
        </p:txBody>
      </p:sp>
      <p:sp>
        <p:nvSpPr>
          <p:cNvPr id="3" name="例子：执行十次 x++ 后，验证 assert(x == 10)">
            <a:extLst xmlns:a="http://schemas.openxmlformats.org/drawingml/2006/main">
              <a:ext uri="{FF2B5EF4-FFF2-40B4-BE49-F238E27FC236}">
                <a16:creationId xmlns:a16="http://schemas.microsoft.com/office/drawing/2014/main" id="{311E552D-AE2A-4500-A38C-FBBA7D9C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638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例子：执行十次 x++ 后，验证 assert(x == 10)</a:t>
            </a:r>
          </a:p>
        </p:txBody>
      </p:sp>
      <p:sp>
        <p:nvSpPr>
          <p:cNvPr id="4" name="examples/c/safe_assert.c">
            <a:extLst xmlns:a="http://schemas.openxmlformats.org/drawingml/2006/main">
              <a:ext uri="{FF2B5EF4-FFF2-40B4-BE49-F238E27FC236}">
                <a16:creationId xmlns:a16="http://schemas.microsoft.com/office/drawing/2014/main" id="{458F4E74-2C4A-43EF-8AD5-F232E0C0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examples/c/safe_assert.c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25EE3-2C37-4DCC-A0B1-D182EBF7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704850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D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6" name="#include &lt;assert.h&gt;&#10;&#10;int main(void) {&#10;    int x = ">
            <a:extLst xmlns:a="http://schemas.openxmlformats.org/drawingml/2006/main">
              <a:ext uri="{FF2B5EF4-FFF2-40B4-BE49-F238E27FC236}">
                <a16:creationId xmlns:a16="http://schemas.microsoft.com/office/drawing/2014/main" id="{3FDE009F-3801-43CE-8575-746B4634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6591300" cy="445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#include &lt;assert.h&gt;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int main(void) {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  int x = 0;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  for (int i = 0; i &lt; 10; ++i)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      x++;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  assert(x == 10);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  return 0;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examples/tasks/safe_assert_crosscheck.json">
            <a:extLst xmlns:a="http://schemas.openxmlformats.org/drawingml/2006/main">
              <a:ext uri="{FF2B5EF4-FFF2-40B4-BE49-F238E27FC236}">
                <a16:creationId xmlns:a16="http://schemas.microsoft.com/office/drawing/2014/main" id="{D7E45305-BAF0-4EE4-90E9-7BED6B25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1940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examples/tasks/safe_assert_crosscheck.json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FE706-19E3-4B02-B834-B876BE7C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14700"/>
            <a:ext cx="8953500" cy="567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D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9" name="{&#10;  &quot;version&quot;: &quot;0.1&quot;,&#10;  &quot;task&quot;: {&#10;    &quot;id&quot;: &quot;safe-">
            <a:extLst xmlns:a="http://schemas.openxmlformats.org/drawingml/2006/main">
              <a:ext uri="{FF2B5EF4-FFF2-40B4-BE49-F238E27FC236}">
                <a16:creationId xmlns:a16="http://schemas.microsoft.com/office/drawing/2014/main" id="{7C1C5ACE-A22A-4529-8388-90775494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86150"/>
            <a:ext cx="8496300" cy="541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"version": "0.1",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"task": {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  "id": "safe-assert-crosscheck",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  "language": "C", "entry": "main",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  "sources": ["../c/safe_assert.c"]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},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"property": {"kind":"assertion_safety"},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"semantics": {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  "c_standard":"c11", "data_model":"LP64"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},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"requirements": {"min_confirmations":2},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"budget": {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  "wall_time_sec":30, "memory_mb":2048,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  "max_parallel":2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输入只声明 WHAT：代码 + 属性 + 语义 + 证据要求 + 资源预算">
            <a:extLst xmlns:a="http://schemas.openxmlformats.org/drawingml/2006/main">
              <a:ext uri="{FF2B5EF4-FFF2-40B4-BE49-F238E27FC236}">
                <a16:creationId xmlns:a16="http://schemas.microsoft.com/office/drawing/2014/main" id="{4FAF7C89-6610-4243-B31D-3FEDC9BF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972550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输入只声明 WHAT：代码 + 属性 + 语义 + 证据要求 + 资源预算</a:t>
            </a:r>
          </a:p>
        </p:txBody>
      </p:sp>
      <p:sp>
        <p:nvSpPr>
          <p:cNvPr id="11" name="VeriRuntime  ·  examples/c/safe_assert.c  /  examp">
            <a:extLst xmlns:a="http://schemas.openxmlformats.org/drawingml/2006/main">
              <a:ext uri="{FF2B5EF4-FFF2-40B4-BE49-F238E27FC236}">
                <a16:creationId xmlns:a16="http://schemas.microsoft.com/office/drawing/2014/main" id="{2D061860-FAE8-4C98-A221-0EC5C7A0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15500"/>
            <a:ext cx="1438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VeriRuntime  ·  examples/c/safe_assert.c  /  examples/tasks/safe_assert_crosscheck.json</a:t>
            </a:r>
          </a:p>
        </p:txBody>
      </p:sp>
      <p:sp>
        <p:nvSpPr>
          <p:cNvPr id="12" name="05 / 22">
            <a:extLst xmlns:a="http://schemas.openxmlformats.org/drawingml/2006/main">
              <a:ext uri="{FF2B5EF4-FFF2-40B4-BE49-F238E27FC236}">
                <a16:creationId xmlns:a16="http://schemas.microsoft.com/office/drawing/2014/main" id="{38D6FC8E-24DF-4628-898C-49995D13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96774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725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05 / 22</a:t>
            </a:r>
          </a:p>
        </p:txBody>
      </p:sp>
    </p:spTree>
    <p:extLst>
      <p:ext uri="{BB962C8B-B14F-4D97-AF65-F5344CB8AC3E}">
        <p14:creationId xmlns:p14="http://schemas.microsoft.com/office/powerpoint/2010/main" val="17398580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D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05 / 校验与快照">
            <a:extLst xmlns:a="http://schemas.openxmlformats.org/drawingml/2006/main">
              <a:ext uri="{FF2B5EF4-FFF2-40B4-BE49-F238E27FC236}">
                <a16:creationId xmlns:a16="http://schemas.microsoft.com/office/drawing/2014/main" id="{1C6593CB-E9CD-4F59-ACCF-FE6DE072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645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05 / 校验与快照</a:t>
            </a:r>
          </a:p>
        </p:txBody>
      </p:sp>
      <p:sp>
        <p:nvSpPr>
          <p:cNvPr id="2" name="JSON 变成不可漂移的 LogicalGoal">
            <a:extLst xmlns:a="http://schemas.openxmlformats.org/drawingml/2006/main">
              <a:ext uri="{FF2B5EF4-FFF2-40B4-BE49-F238E27FC236}">
                <a16:creationId xmlns:a16="http://schemas.microsoft.com/office/drawing/2014/main" id="{77CB45F9-D628-4837-B351-A4323AE7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5375"/>
            <a:ext cx="164592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JSON 变成不可漂移的 LogicalGoal</a:t>
            </a:r>
          </a:p>
        </p:txBody>
      </p:sp>
      <p:sp>
        <p:nvSpPr>
          <p:cNvPr id="3" name="严格字段校验 → 解析 translation units / 本地头文件 → 保存内容快照">
            <a:extLst xmlns:a="http://schemas.openxmlformats.org/drawingml/2006/main">
              <a:ext uri="{FF2B5EF4-FFF2-40B4-BE49-F238E27FC236}">
                <a16:creationId xmlns:a16="http://schemas.microsoft.com/office/drawing/2014/main" id="{1BFB300F-4A2E-4050-91D1-F675ED54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638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严格字段校验 → 解析 translation units / 本地头文件 → 保存内容快照</a:t>
            </a:r>
          </a:p>
        </p:txBody>
      </p:sp>
      <p:sp>
        <p:nvSpPr>
          <p:cNvPr id="4" name="实际逻辑 IR 节选">
            <a:extLst xmlns:a="http://schemas.openxmlformats.org/drawingml/2006/main">
              <a:ext uri="{FF2B5EF4-FFF2-40B4-BE49-F238E27FC236}">
                <a16:creationId xmlns:a16="http://schemas.microsoft.com/office/drawing/2014/main" id="{FC77D026-E785-47DE-AC30-0889D919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804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实际逻辑 IR 节选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9BC82-8A8A-43BC-A188-808B70DE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8048625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D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6" name="id: safe-assert-crosscheck&#10;entry: main&#10;program.sou">
            <a:extLst xmlns:a="http://schemas.openxmlformats.org/drawingml/2006/main">
              <a:ext uri="{FF2B5EF4-FFF2-40B4-BE49-F238E27FC236}">
                <a16:creationId xmlns:a16="http://schemas.microsoft.com/office/drawing/2014/main" id="{FB16A6B9-9C4A-4E2D-9588-DBB55116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7591425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id: safe-assert-crosscheck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entry: main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program.sources: ["c/safe_assert.c"]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program.files[0]: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logical_path: c/safe_assert.c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sha256: 48470bc7498b9918...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content: "#include &lt;assert.h&gt;..."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property: assertion_safety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semantics: c11 / LP64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requirements.min_confirmations: 2</a:t>
            </a:r>
          </a:p>
        </p:txBody>
      </p:sp>
      <p:sp>
        <p:nvSpPr>
          <p:cNvPr id="7" name="校验的主要边界">
            <a:extLst xmlns:a="http://schemas.openxmlformats.org/drawingml/2006/main">
              <a:ext uri="{FF2B5EF4-FFF2-40B4-BE49-F238E27FC236}">
                <a16:creationId xmlns:a16="http://schemas.microsoft.com/office/drawing/2014/main" id="{E9FA4644-261E-4379-9F90-7974DA3F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09900"/>
            <a:ext cx="7715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校验的主要边界</a:t>
            </a:r>
          </a:p>
        </p:txBody>
      </p:sp>
      <p:sp>
        <p:nvSpPr>
          <p:cNvPr id="8" name="拒绝未知字段、工具名、策略与重复键&#10;递归封存字面量本地 include&#10;拒绝不支持的宏 / 绝对 /">
            <a:extLst xmlns:a="http://schemas.openxmlformats.org/drawingml/2006/main">
              <a:ext uri="{FF2B5EF4-FFF2-40B4-BE49-F238E27FC236}">
                <a16:creationId xmlns:a16="http://schemas.microsoft.com/office/drawing/2014/main" id="{FCBD3FEC-0FCB-4A43-B899-B5E42123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81450"/>
            <a:ext cx="7715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拒绝未知字段、工具名、策略与重复键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递归封存字面量本地 include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拒绝不支持的宏 / 绝对 / symlink 依赖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系统头文件依赖已资格验证的环境</a:t>
            </a:r>
          </a:p>
        </p:txBody>
      </p:sp>
      <p:sp>
        <p:nvSpPr>
          <p:cNvPr id="9" name="semantic_key">
            <a:extLst xmlns:a="http://schemas.openxmlformats.org/drawingml/2006/main">
              <a:ext uri="{FF2B5EF4-FFF2-40B4-BE49-F238E27FC236}">
                <a16:creationId xmlns:a16="http://schemas.microsoft.com/office/drawing/2014/main" id="{63386B20-63FB-40E9-B6A7-C1E94865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9629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1A3A7A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1A3A7A"/>
                </a:solidFill>
                <a:latin typeface="Consolas"/>
                <a:ea typeface="Consolas"/>
                <a:cs typeface="Consolas"/>
              </a:rPr>
              <a:t>semantic_key</a:t>
            </a:r>
          </a:p>
        </p:txBody>
      </p:sp>
      <p:sp>
        <p:nvSpPr>
          <p:cNvPr id="10" name="c61c1d877544bae458d22cefd039eb13d4c38bcb6d01c54949">
            <a:extLst xmlns:a="http://schemas.openxmlformats.org/drawingml/2006/main">
              <a:ext uri="{FF2B5EF4-FFF2-40B4-BE49-F238E27FC236}">
                <a16:creationId xmlns:a16="http://schemas.microsoft.com/office/drawing/2014/main" id="{819328CB-72A3-415C-8E37-B47639AB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562975"/>
            <a:ext cx="1628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c61c1d877544bae458d22cefd039eb13d4c38bcb6d01c549499050aab2591ad2</a:t>
            </a:r>
          </a:p>
        </p:txBody>
      </p:sp>
      <p:sp>
        <p:nvSpPr>
          <p:cNvPr id="11" name="VeriRuntime  ·  veriruntime/dsl/__init__.py  /  ve">
            <a:extLst xmlns:a="http://schemas.openxmlformats.org/drawingml/2006/main">
              <a:ext uri="{FF2B5EF4-FFF2-40B4-BE49-F238E27FC236}">
                <a16:creationId xmlns:a16="http://schemas.microsoft.com/office/drawing/2014/main" id="{E05C6339-DF4F-44BD-BC6A-AD8AFEC3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15500"/>
            <a:ext cx="1438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VeriRuntime  ·  veriruntime/dsl/__init__.py  /  veriruntime/model.py</a:t>
            </a:r>
          </a:p>
        </p:txBody>
      </p:sp>
      <p:sp>
        <p:nvSpPr>
          <p:cNvPr id="12" name="06 / 22">
            <a:extLst xmlns:a="http://schemas.openxmlformats.org/drawingml/2006/main">
              <a:ext uri="{FF2B5EF4-FFF2-40B4-BE49-F238E27FC236}">
                <a16:creationId xmlns:a16="http://schemas.microsoft.com/office/drawing/2014/main" id="{325FF3D9-2D17-4372-B128-CF4818C4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96774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725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06 / 22</a:t>
            </a:r>
          </a:p>
        </p:txBody>
      </p:sp>
    </p:spTree>
    <p:extLst>
      <p:ext uri="{BB962C8B-B14F-4D97-AF65-F5344CB8AC3E}">
        <p14:creationId xmlns:p14="http://schemas.microsoft.com/office/powerpoint/2010/main" val="17061957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D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06 / 计划生成">
            <a:extLst xmlns:a="http://schemas.openxmlformats.org/drawingml/2006/main">
              <a:ext uri="{FF2B5EF4-FFF2-40B4-BE49-F238E27FC236}">
                <a16:creationId xmlns:a16="http://schemas.microsoft.com/office/drawing/2014/main" id="{538C3BC6-67F4-453F-A254-DE1FE9A4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645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06 / 计划生成</a:t>
            </a:r>
          </a:p>
        </p:txBody>
      </p:sp>
      <p:sp>
        <p:nvSpPr>
          <p:cNvPr id="2" name="先筛兼容工具，再按历史成本排序">
            <a:extLst xmlns:a="http://schemas.openxmlformats.org/drawingml/2006/main">
              <a:ext uri="{FF2B5EF4-FFF2-40B4-BE49-F238E27FC236}">
                <a16:creationId xmlns:a16="http://schemas.microsoft.com/office/drawing/2014/main" id="{E9E82BC2-A3BF-473D-8C60-7B09BF7C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5375"/>
            <a:ext cx="164592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先筛兼容工具，再按历史成本排序</a:t>
            </a:r>
          </a:p>
        </p:txBody>
      </p:sp>
      <p:sp>
        <p:nvSpPr>
          <p:cNvPr id="3" name="当前 cost-aware-v1 是启发式：平滑确定率 / 预期耗时">
            <a:extLst xmlns:a="http://schemas.openxmlformats.org/drawingml/2006/main">
              <a:ext uri="{FF2B5EF4-FFF2-40B4-BE49-F238E27FC236}">
                <a16:creationId xmlns:a16="http://schemas.microsoft.com/office/drawing/2014/main" id="{C783F53C-C7A5-465A-8044-8D8A20DE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638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当前 cost-aware-v1 是启发式：平滑确定率 / 预期耗时</a:t>
            </a:r>
          </a:p>
        </p:txBody>
      </p:sp>
      <p:sp>
        <p:nvSpPr>
          <p:cNvPr id="4" name="score = success_rate / expected_runtime">
            <a:extLst xmlns:a="http://schemas.openxmlformats.org/drawingml/2006/main">
              <a:ext uri="{FF2B5EF4-FFF2-40B4-BE49-F238E27FC236}">
                <a16:creationId xmlns:a16="http://schemas.microsoft.com/office/drawing/2014/main" id="{0A4D419F-64F7-4A5D-BB21-3DD6846C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28925"/>
            <a:ext cx="1619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>
                <a:solidFill>
                  <a:srgbClr val="1A3A7A"/>
                </a:solidFill>
                <a:latin typeface="Consolas"/>
                <a:ea typeface="Consolas"/>
                <a:cs typeface="Consolas"/>
              </a:defRPr>
            </a:pPr>
            <a:r>
              <a:rPr sz="3150" b="1">
                <a:solidFill>
                  <a:srgbClr val="1A3A7A"/>
                </a:solidFill>
                <a:latin typeface="Consolas"/>
                <a:ea typeface="Consolas"/>
                <a:cs typeface="Consolas"/>
              </a:rPr>
              <a:t>score = success_rate / expected_runtime</a:t>
            </a:r>
          </a:p>
        </p:txBody>
      </p:sp>
      <p:sp>
        <p:nvSpPr>
          <p:cNvPr id="5" name="有历史：success = (definitive + 0.5) / (runs + 1)；耗时取历">
            <a:extLst xmlns:a="http://schemas.openxmlformats.org/drawingml/2006/main">
              <a:ext uri="{FF2B5EF4-FFF2-40B4-BE49-F238E27FC236}">
                <a16:creationId xmlns:a16="http://schemas.microsoft.com/office/drawing/2014/main" id="{2B217413-F0F6-42E9-AD6F-6BB18A2D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有历史：success = (definitive + 0.5) / (runs + 1)；耗时取历史中位数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914400" y="4533900"/>
          <a:ext xmlns:a="http://schemas.openxmlformats.org/drawingml/2006/main" cx="16459200" cy="3505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191000"/>
                <a:gridCol w="2857500"/>
                <a:gridCol w="3619500"/>
                <a:gridCol w="2286000"/>
                <a:gridCol w="3505200"/>
              </a:tblGrid>
              <a:tr h="87630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首次无历史</a:t>
                      </a:r>
                    </a:p>
                  </a:txBody>
                  <a:tcPr marL="91440" marR="91440" marT="45720" marB="45720" anchor="ctr">
                    <a:solidFill>
                      <a:srgbClr val="1A3A7A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平滑确定率</a:t>
                      </a:r>
                    </a:p>
                  </a:txBody>
                  <a:tcPr marL="91440" marR="91440" marT="45720" marB="45720" anchor="ctr">
                    <a:solidFill>
                      <a:srgbClr val="1A3A7A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耗时先验 / 秒</a:t>
                      </a:r>
                    </a:p>
                  </a:txBody>
                  <a:tcPr marL="91440" marR="91440" marT="45720" marB="45720" anchor="ctr">
                    <a:solidFill>
                      <a:srgbClr val="1A3A7A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score</a:t>
                      </a:r>
                    </a:p>
                  </a:txBody>
                  <a:tcPr marL="91440" marR="91440" marT="45720" marB="45720" anchor="ctr">
                    <a:solidFill>
                      <a:srgbClr val="1A3A7A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</a:t>
                      </a:r>
                    </a:p>
                  </a:txBody>
                  <a:tcPr marL="91440" marR="91440" marT="45720" marB="45720" anchor="ctr">
                    <a:solidFill>
                      <a:srgbClr val="1A3A7A"/>
                    </a:solidFill>
                  </a:tcPr>
                </a:tc>
              </a:tr>
              <a:tr h="87630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7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CBMC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7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7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7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7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 阶段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7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ESBMC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7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7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7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7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 阶段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7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CPAchecker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7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7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7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47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2 阶段 / 后备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可用性 / 语言 / 属性 / 语义 / 程序形态 / 内存估计 → 每家族最多一个候选">
            <a:extLst xmlns:a="http://schemas.openxmlformats.org/drawingml/2006/main">
              <a:ext uri="{FF2B5EF4-FFF2-40B4-BE49-F238E27FC236}">
                <a16:creationId xmlns:a16="http://schemas.microsoft.com/office/drawing/2014/main" id="{49E5B7A3-C592-402D-94A4-1900A2FB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648700"/>
            <a:ext cx="1619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可用性 / 语言 / 属性 / 语义 / 程序形态 / 内存估计 → 每家族最多一个候选</a:t>
            </a:r>
          </a:p>
        </p:txBody>
      </p:sp>
      <p:sp>
        <p:nvSpPr>
          <p:cNvPr id="8" name="VeriRuntime  ·  veriruntime/optimizer.py  /  repor">
            <a:extLst xmlns:a="http://schemas.openxmlformats.org/drawingml/2006/main">
              <a:ext uri="{FF2B5EF4-FFF2-40B4-BE49-F238E27FC236}">
                <a16:creationId xmlns:a16="http://schemas.microsoft.com/office/drawing/2014/main" id="{99417FD3-74A7-49EB-9146-5A99D70B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15500"/>
            <a:ext cx="1438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VeriRuntime  ·  veriruntime/optimizer.py  /  report-evidence.json: first.optimization</a:t>
            </a:r>
          </a:p>
        </p:txBody>
      </p:sp>
      <p:sp>
        <p:nvSpPr>
          <p:cNvPr id="9" name="07 / 22">
            <a:extLst xmlns:a="http://schemas.openxmlformats.org/drawingml/2006/main">
              <a:ext uri="{FF2B5EF4-FFF2-40B4-BE49-F238E27FC236}">
                <a16:creationId xmlns:a16="http://schemas.microsoft.com/office/drawing/2014/main" id="{F9416010-7939-4640-82FD-36C71B65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96774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725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07 / 22</a:t>
            </a:r>
          </a:p>
        </p:txBody>
      </p:sp>
    </p:spTree>
    <p:extLst>
      <p:ext uri="{BB962C8B-B14F-4D97-AF65-F5344CB8AC3E}">
        <p14:creationId xmlns:p14="http://schemas.microsoft.com/office/powerpoint/2010/main" val="2955507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D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07 / 实际物理 AST">
            <a:extLst xmlns:a="http://schemas.openxmlformats.org/drawingml/2006/main">
              <a:ext uri="{FF2B5EF4-FFF2-40B4-BE49-F238E27FC236}">
                <a16:creationId xmlns:a16="http://schemas.microsoft.com/office/drawing/2014/main" id="{328E931D-97C5-4B0B-824A-8A8E5D0E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645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07 / 实际物理 AST</a:t>
            </a:r>
          </a:p>
        </p:txBody>
      </p:sp>
      <p:sp>
        <p:nvSpPr>
          <p:cNvPr id="2" name="并行先确认，未满足才运行后备">
            <a:extLst xmlns:a="http://schemas.openxmlformats.org/drawingml/2006/main">
              <a:ext uri="{FF2B5EF4-FFF2-40B4-BE49-F238E27FC236}">
                <a16:creationId xmlns:a16="http://schemas.microsoft.com/office/drawing/2014/main" id="{947B1527-C524-44BE-BFA5-F2F0EB87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5375"/>
            <a:ext cx="164592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并行先确认，未满足才运行后备</a:t>
            </a:r>
          </a:p>
        </p:txBody>
      </p:sp>
      <p:sp>
        <p:nvSpPr>
          <p:cNvPr id="3" name="Sequence[ Parallel[CBMC, ESBMC], CPAchecker ]">
            <a:extLst xmlns:a="http://schemas.openxmlformats.org/drawingml/2006/main">
              <a:ext uri="{FF2B5EF4-FFF2-40B4-BE49-F238E27FC236}">
                <a16:creationId xmlns:a16="http://schemas.microsoft.com/office/drawing/2014/main" id="{EECF8098-6CB9-4CF6-AAAD-4F9D64C4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638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Sequence[ Parallel[CBMC, ESBMC], CPAchecker 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660CB-9709-4CD2-B28D-A63221E8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62400"/>
            <a:ext cx="1238250" cy="952500"/>
          </a:xfrm>
          <a:custGeom xmlns:a="http://schemas.openxmlformats.org/drawingml/2006/main">
            <a:pathLst>
              <a:path w="1238250" h="952500">
                <a:moveTo>
                  <a:pt x="1238250" y="0"/>
                </a:moveTo>
                <a:lnTo>
                  <a:pt x="1238250" y="514350"/>
                </a:lnTo>
                <a:lnTo>
                  <a:pt x="0" y="514350"/>
                </a:lnTo>
                <a:lnTo>
                  <a:pt x="0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A3A7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73EE7-031A-4EEC-8B4E-6CD8FE95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24400"/>
            <a:ext cx="152400" cy="190500"/>
          </a:xfrm>
          <a:custGeom xmlns:a="http://schemas.openxmlformats.org/drawingml/2006/main">
            <a:pathLst>
              <a:path w="152400" h="190500">
                <a:moveTo>
                  <a:pt x="76200" y="190500"/>
                </a:moveTo>
                <a:lnTo>
                  <a:pt x="1524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A3A7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BD934-5B49-4C00-97A5-CD818D23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62400"/>
            <a:ext cx="4143375" cy="952500"/>
          </a:xfrm>
          <a:custGeom xmlns:a="http://schemas.openxmlformats.org/drawingml/2006/main">
            <a:pathLst>
              <a:path w="4143375" h="952500">
                <a:moveTo>
                  <a:pt x="0" y="0"/>
                </a:moveTo>
                <a:lnTo>
                  <a:pt x="0" y="514350"/>
                </a:lnTo>
                <a:lnTo>
                  <a:pt x="4143375" y="514350"/>
                </a:lnTo>
                <a:lnTo>
                  <a:pt x="4143375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A3A7A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E6948-F95E-4BEF-949F-D8A61068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4724400"/>
            <a:ext cx="152400" cy="190500"/>
          </a:xfrm>
          <a:custGeom xmlns:a="http://schemas.openxmlformats.org/drawingml/2006/main">
            <a:pathLst>
              <a:path w="152400" h="190500">
                <a:moveTo>
                  <a:pt x="76200" y="190500"/>
                </a:moveTo>
                <a:lnTo>
                  <a:pt x="1524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A3A7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B03AF-D714-471E-98B1-1789ED1F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153150"/>
            <a:ext cx="1428750" cy="1295400"/>
          </a:xfrm>
          <a:custGeom xmlns:a="http://schemas.openxmlformats.org/drawingml/2006/main">
            <a:pathLst>
              <a:path w="1428750" h="1295400">
                <a:moveTo>
                  <a:pt x="1428750" y="0"/>
                </a:moveTo>
                <a:lnTo>
                  <a:pt x="1428750" y="647700"/>
                </a:lnTo>
                <a:lnTo>
                  <a:pt x="0" y="647700"/>
                </a:lnTo>
                <a:lnTo>
                  <a:pt x="0" y="1295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A3A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D165E-0015-4DF3-BBA3-AE6C67EF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258050"/>
            <a:ext cx="152400" cy="190500"/>
          </a:xfrm>
          <a:custGeom xmlns:a="http://schemas.openxmlformats.org/drawingml/2006/main">
            <a:pathLst>
              <a:path w="152400" h="190500">
                <a:moveTo>
                  <a:pt x="76200" y="190500"/>
                </a:moveTo>
                <a:lnTo>
                  <a:pt x="1524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A3A7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0B04E-9425-46E0-A4F5-6706FDEE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153150"/>
            <a:ext cx="2095500" cy="1295400"/>
          </a:xfrm>
          <a:custGeom xmlns:a="http://schemas.openxmlformats.org/drawingml/2006/main">
            <a:pathLst>
              <a:path w="2095500" h="1295400">
                <a:moveTo>
                  <a:pt x="0" y="0"/>
                </a:moveTo>
                <a:lnTo>
                  <a:pt x="0" y="647700"/>
                </a:lnTo>
                <a:lnTo>
                  <a:pt x="2095500" y="647700"/>
                </a:lnTo>
                <a:lnTo>
                  <a:pt x="2095500" y="1295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A3A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D801A-1BF1-4791-B452-FE2D04EA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7258050"/>
            <a:ext cx="152400" cy="190500"/>
          </a:xfrm>
          <a:custGeom xmlns:a="http://schemas.openxmlformats.org/drawingml/2006/main">
            <a:pathLst>
              <a:path w="152400" h="190500">
                <a:moveTo>
                  <a:pt x="76200" y="190500"/>
                </a:moveTo>
                <a:lnTo>
                  <a:pt x="1524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A3A7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F8E2B-5A55-4816-9A42-98ABDCBE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4762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D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13" name="Sequence&#10;总预算 30 s">
            <a:extLst xmlns:a="http://schemas.openxmlformats.org/drawingml/2006/main">
              <a:ext uri="{FF2B5EF4-FFF2-40B4-BE49-F238E27FC236}">
                <a16:creationId xmlns:a16="http://schemas.microsoft.com/office/drawing/2014/main" id="{831AB639-555F-4303-AEA6-784A2AE4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60370"/>
            <a:ext cx="4495800" cy="918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Sequence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总预算 30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2306E6-D86A-4502-BDFF-8AB2C65B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14900"/>
            <a:ext cx="6477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D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15" name="Parallel(max_parallel=2)&#10;第 1 阶段：15 s">
            <a:extLst xmlns:a="http://schemas.openxmlformats.org/drawingml/2006/main">
              <a:ext uri="{FF2B5EF4-FFF2-40B4-BE49-F238E27FC236}">
                <a16:creationId xmlns:a16="http://schemas.microsoft.com/office/drawing/2014/main" id="{669BD80D-4677-423E-9AFA-FB2E1CD3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122545"/>
            <a:ext cx="6210300" cy="918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Parallel(max_parallel=2)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第 1 阶段：15 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2211D1-8CD6-4338-8BCE-590DAF8B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914900"/>
            <a:ext cx="5238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17" name="Run(CPAchecker, 15 s)&#10;第 2 阶段：后备 / 未运行">
            <a:extLst xmlns:a="http://schemas.openxmlformats.org/drawingml/2006/main">
              <a:ext uri="{FF2B5EF4-FFF2-40B4-BE49-F238E27FC236}">
                <a16:creationId xmlns:a16="http://schemas.microsoft.com/office/drawing/2014/main" id="{866E35F1-A3CC-48CB-83C1-DFA47226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5265420"/>
            <a:ext cx="4972050" cy="918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Run(CPAchecker, 15 s)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第 2 阶段：后备 / 未运行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474C35-2C25-4247-BFB1-BD595EDD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448550"/>
            <a:ext cx="5524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19" name="Run(CBMC, 15 s)&#10;已执行 → SAFE">
            <a:extLst xmlns:a="http://schemas.openxmlformats.org/drawingml/2006/main">
              <a:ext uri="{FF2B5EF4-FFF2-40B4-BE49-F238E27FC236}">
                <a16:creationId xmlns:a16="http://schemas.microsoft.com/office/drawing/2014/main" id="{B8B881C3-4035-4C86-B687-2836BB2B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656195"/>
            <a:ext cx="5257800" cy="918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1A5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A5A2A"/>
                </a:solidFill>
                <a:latin typeface="Microsoft YaHei"/>
                <a:ea typeface="Microsoft YaHei"/>
                <a:cs typeface="Microsoft YaHei"/>
              </a:rPr>
              <a:t>Run(CBMC, 15 s)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1A5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A5A2A"/>
                </a:solidFill>
                <a:latin typeface="Microsoft YaHei"/>
                <a:ea typeface="Microsoft YaHei"/>
                <a:cs typeface="Microsoft YaHei"/>
              </a:rPr>
              <a:t>已执行 → SAFE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95ED0B-27C6-42B1-89EA-28383679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7448550"/>
            <a:ext cx="5524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21" name="Run(ESBMC, 15 s)&#10;已执行 → SAFE">
            <a:extLst xmlns:a="http://schemas.openxmlformats.org/drawingml/2006/main">
              <a:ext uri="{FF2B5EF4-FFF2-40B4-BE49-F238E27FC236}">
                <a16:creationId xmlns:a16="http://schemas.microsoft.com/office/drawing/2014/main" id="{6C299107-4146-4152-A504-1084DB85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7656195"/>
            <a:ext cx="5257800" cy="918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1A5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A5A2A"/>
                </a:solidFill>
                <a:latin typeface="Microsoft YaHei"/>
                <a:ea typeface="Microsoft YaHei"/>
                <a:cs typeface="Microsoft YaHei"/>
              </a:rPr>
              <a:t>Run(ESBMC, 15 s)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1A5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A5A2A"/>
                </a:solidFill>
                <a:latin typeface="Microsoft YaHei"/>
                <a:ea typeface="Microsoft YaHei"/>
                <a:cs typeface="Microsoft YaHei"/>
              </a:rPr>
              <a:t>已执行 → SAFE</a:t>
            </a:r>
          </a:p>
        </p:txBody>
      </p:sp>
      <p:sp>
        <p:nvSpPr>
          <p:cNvPr id="22" name="本例两家族 SAFE 已满足要求；运行时结束目标，跳过 CPAchecker。">
            <a:extLst xmlns:a="http://schemas.openxmlformats.org/drawingml/2006/main">
              <a:ext uri="{FF2B5EF4-FFF2-40B4-BE49-F238E27FC236}">
                <a16:creationId xmlns:a16="http://schemas.microsoft.com/office/drawing/2014/main" id="{3D781ACF-3C66-43D1-AB4C-595CFCF3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991600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本例两家族 SAFE 已满足要求；运行时结束目标，跳过 CPAchecker。</a:t>
            </a:r>
          </a:p>
        </p:txBody>
      </p:sp>
      <p:sp>
        <p:nvSpPr>
          <p:cNvPr id="23" name="VeriRuntime  ·  report-evidence.json: first.physic">
            <a:extLst xmlns:a="http://schemas.openxmlformats.org/drawingml/2006/main">
              <a:ext uri="{FF2B5EF4-FFF2-40B4-BE49-F238E27FC236}">
                <a16:creationId xmlns:a16="http://schemas.microsoft.com/office/drawing/2014/main" id="{812C48ED-4DEE-4661-8962-1B5917BB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15500"/>
            <a:ext cx="1438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VeriRuntime  ·  report-evidence.json: first.physical  /  veriruntime/runtime/engine.py</a:t>
            </a:r>
          </a:p>
        </p:txBody>
      </p:sp>
      <p:sp>
        <p:nvSpPr>
          <p:cNvPr id="24" name="08 / 22">
            <a:extLst xmlns:a="http://schemas.openxmlformats.org/drawingml/2006/main">
              <a:ext uri="{FF2B5EF4-FFF2-40B4-BE49-F238E27FC236}">
                <a16:creationId xmlns:a16="http://schemas.microsoft.com/office/drawing/2014/main" id="{C67A0D28-7529-4142-B255-6798D93B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96774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725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08 / 22</a:t>
            </a:r>
          </a:p>
        </p:txBody>
      </p:sp>
    </p:spTree>
    <p:extLst>
      <p:ext uri="{BB962C8B-B14F-4D97-AF65-F5344CB8AC3E}">
        <p14:creationId xmlns:p14="http://schemas.microsoft.com/office/powerpoint/2010/main" val="12155201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D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08 / 执行协议">
            <a:extLst xmlns:a="http://schemas.openxmlformats.org/drawingml/2006/main">
              <a:ext uri="{FF2B5EF4-FFF2-40B4-BE49-F238E27FC236}">
                <a16:creationId xmlns:a16="http://schemas.microsoft.com/office/drawing/2014/main" id="{C2C22DB0-2E8E-4DF1-ACF5-5C49A46D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645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08 / 执行协议</a:t>
            </a:r>
          </a:p>
        </p:txBody>
      </p:sp>
      <p:sp>
        <p:nvSpPr>
          <p:cNvPr id="2" name="执行后端接收命令，返回执行事实">
            <a:extLst xmlns:a="http://schemas.openxmlformats.org/drawingml/2006/main">
              <a:ext uri="{FF2B5EF4-FFF2-40B4-BE49-F238E27FC236}">
                <a16:creationId xmlns:a16="http://schemas.microsoft.com/office/drawing/2014/main" id="{EC461278-D71D-48C1-AD23-6044B4E6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5375"/>
            <a:ext cx="164592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执行后端接收命令，返回执行事实</a:t>
            </a:r>
          </a:p>
        </p:txBody>
      </p:sp>
      <p:sp>
        <p:nvSpPr>
          <p:cNvPr id="3" name="当前接口已实现；远程 backend 的 staging / 环境资格验证仍留白">
            <a:extLst xmlns:a="http://schemas.openxmlformats.org/drawingml/2006/main">
              <a:ext uri="{FF2B5EF4-FFF2-40B4-BE49-F238E27FC236}">
                <a16:creationId xmlns:a16="http://schemas.microsoft.com/office/drawing/2014/main" id="{03494EA9-EC81-4A91-9B11-AC572E15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638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当前接口已实现；远程 backend 的 staging / 环境资格验证仍留白</a:t>
            </a:r>
          </a:p>
        </p:txBody>
      </p:sp>
      <p:sp>
        <p:nvSpPr>
          <p:cNvPr id="4" name="ExecutionSpec（真实 CBMC 桥接请求节选）">
            <a:extLst xmlns:a="http://schemas.openxmlformats.org/drawingml/2006/main">
              <a:ext uri="{FF2B5EF4-FFF2-40B4-BE49-F238E27FC236}">
                <a16:creationId xmlns:a16="http://schemas.microsoft.com/office/drawing/2014/main" id="{13E2B46F-3F94-4DE0-9BA0-BA096574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ExecutionSpec（真实 CBMC 桥接请求节选）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E6F1D-7EDD-4545-A238-FDB7F524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80962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D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6" name="argv: [&quot;python3.11&quot;, &quot;-m&quot;,&#10;       &quot;veriruntime.too">
            <a:extLst xmlns:a="http://schemas.openxmlformats.org/drawingml/2006/main">
              <a:ext uri="{FF2B5EF4-FFF2-40B4-BE49-F238E27FC236}">
                <a16:creationId xmlns:a16="http://schemas.microsoft.com/office/drawing/2014/main" id="{5F485F22-DC1E-4895-89B8-DB4479C3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76390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argv: ["python3.11", "-m",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     "veriruntime.tools.container_driver",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     "&lt;当前 attempt 目录&gt;"]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cwd: &lt;当前 attempt 目录&gt;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wall_time_limit: 14.864688 s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cpu_request: 1.0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memory_request_mb: 1024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environment: private HOME / TMP / XDG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metadata: execution / attempt / image identity</a:t>
            </a:r>
          </a:p>
        </p:txBody>
      </p:sp>
      <p:sp>
        <p:nvSpPr>
          <p:cNvPr id="7" name="ExecutionOutcome（协议字段）">
            <a:extLst xmlns:a="http://schemas.openxmlformats.org/drawingml/2006/main">
              <a:ext uri="{FF2B5EF4-FFF2-40B4-BE49-F238E27FC236}">
                <a16:creationId xmlns:a16="http://schemas.microsoft.com/office/drawing/2014/main" id="{5651959C-8BC6-4A9B-B211-ABEA7FA3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765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ExecutionOutcome（协议字段）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25CC8-7FF1-46E9-811B-42EA771D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71850"/>
            <a:ext cx="78486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D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9" name="handle_id / backend&#10;exit_code / stdout / stderr&#10;st">
            <a:extLst xmlns:a="http://schemas.openxmlformats.org/drawingml/2006/main">
              <a:ext uri="{FF2B5EF4-FFF2-40B4-BE49-F238E27FC236}">
                <a16:creationId xmlns:a16="http://schemas.microsoft.com/office/drawing/2014/main" id="{58D89823-ED32-425A-8278-B507B0A6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43300"/>
            <a:ext cx="73914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handle_id / backend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exit_code / stdout / stderr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start_time / end_time / wall_time_sec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status / termination_reason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metrics: RSS / CPU + scope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diagnostics: resource_guarantees</a:t>
            </a:r>
          </a:p>
        </p:txBody>
      </p:sp>
      <p:sp>
        <p:nvSpPr>
          <p:cNvPr id="10" name="start → wait / cancel → collect_metrics → cleanup">
            <a:extLst xmlns:a="http://schemas.openxmlformats.org/drawingml/2006/main">
              <a:ext uri="{FF2B5EF4-FFF2-40B4-BE49-F238E27FC236}">
                <a16:creationId xmlns:a16="http://schemas.microsoft.com/office/drawing/2014/main" id="{54B5BBAD-79C8-4864-BBB9-36B20A76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753350"/>
            <a:ext cx="1619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A3A7A"/>
                </a:solidFill>
                <a:latin typeface="Consolas"/>
                <a:ea typeface="Consolas"/>
                <a:cs typeface="Consolas"/>
              </a:defRPr>
            </a:pPr>
            <a:r>
              <a:rPr sz="3000" b="1">
                <a:solidFill>
                  <a:srgbClr val="1A3A7A"/>
                </a:solidFill>
                <a:latin typeface="Consolas"/>
                <a:ea typeface="Consolas"/>
                <a:cs typeface="Consolas"/>
              </a:rPr>
              <a:t>start → wait / cancel → collect_metrics → cleanup</a:t>
            </a:r>
          </a:p>
        </p:txBody>
      </p:sp>
      <p:sp>
        <p:nvSpPr>
          <p:cNvPr id="11" name="adapter 解析 Outcome；引擎归并 verdict。取消与清理必须幂等。">
            <a:extLst xmlns:a="http://schemas.openxmlformats.org/drawingml/2006/main">
              <a:ext uri="{FF2B5EF4-FFF2-40B4-BE49-F238E27FC236}">
                <a16:creationId xmlns:a16="http://schemas.microsoft.com/office/drawing/2014/main" id="{0461D07D-86BE-4727-B3EE-17946CB5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620125"/>
            <a:ext cx="1619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adapter 解析 Outcome；引擎归并 verdict。取消与清理必须幂等。</a:t>
            </a:r>
          </a:p>
        </p:txBody>
      </p:sp>
      <p:sp>
        <p:nvSpPr>
          <p:cNvPr id="12" name="VeriRuntime  ·  veriruntime/execution/backend.py  ">
            <a:extLst xmlns:a="http://schemas.openxmlformats.org/drawingml/2006/main">
              <a:ext uri="{FF2B5EF4-FFF2-40B4-BE49-F238E27FC236}">
                <a16:creationId xmlns:a16="http://schemas.microsoft.com/office/drawing/2014/main" id="{F550CF9F-884E-4567-8A8B-25EC05DA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15500"/>
            <a:ext cx="1438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VeriRuntime  ·  veriruntime/execution/backend.py  /  veriruntime/execution/local.py</a:t>
            </a:r>
          </a:p>
        </p:txBody>
      </p:sp>
      <p:sp>
        <p:nvSpPr>
          <p:cNvPr id="13" name="09 / 22">
            <a:extLst xmlns:a="http://schemas.openxmlformats.org/drawingml/2006/main">
              <a:ext uri="{FF2B5EF4-FFF2-40B4-BE49-F238E27FC236}">
                <a16:creationId xmlns:a16="http://schemas.microsoft.com/office/drawing/2014/main" id="{E812AAB6-F034-4188-A9B8-115462BC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96774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725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09 / 22</a:t>
            </a:r>
          </a:p>
        </p:txBody>
      </p:sp>
    </p:spTree>
    <p:extLst>
      <p:ext uri="{BB962C8B-B14F-4D97-AF65-F5344CB8AC3E}">
        <p14:creationId xmlns:p14="http://schemas.microsoft.com/office/powerpoint/2010/main" val="5093820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D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09 / Docker Linux">
            <a:extLst xmlns:a="http://schemas.openxmlformats.org/drawingml/2006/main">
              <a:ext uri="{FF2B5EF4-FFF2-40B4-BE49-F238E27FC236}">
                <a16:creationId xmlns:a16="http://schemas.microsoft.com/office/drawing/2014/main" id="{5BB3ACF0-95E1-4E75-9A1E-5EA39667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645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09 / Docker Linux</a:t>
            </a:r>
          </a:p>
        </p:txBody>
      </p:sp>
      <p:sp>
        <p:nvSpPr>
          <p:cNvPr id="2" name="每次尝试一个容器，工作区之间不可见">
            <a:extLst xmlns:a="http://schemas.openxmlformats.org/drawingml/2006/main">
              <a:ext uri="{FF2B5EF4-FFF2-40B4-BE49-F238E27FC236}">
                <a16:creationId xmlns:a16="http://schemas.microsoft.com/office/drawing/2014/main" id="{7B1E75FB-EB61-444B-A803-F00BC58B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5375"/>
            <a:ext cx="164592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每次尝试一个容器，工作区之间不可见</a:t>
            </a:r>
          </a:p>
        </p:txBody>
      </p:sp>
      <p:sp>
        <p:nvSpPr>
          <p:cNvPr id="3" name="轻量控制层 + 按需创建 / 删除的工具容器；没有常驻验证服务">
            <a:extLst xmlns:a="http://schemas.openxmlformats.org/drawingml/2006/main">
              <a:ext uri="{FF2B5EF4-FFF2-40B4-BE49-F238E27FC236}">
                <a16:creationId xmlns:a16="http://schemas.microsoft.com/office/drawing/2014/main" id="{753A336C-2554-4BEC-A710-2A504017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638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轻量控制层 + 按需创建 / 删除的工具容器；没有常驻验证服务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4CDE7-32AA-4076-BF5E-5AD629EA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343400"/>
            <a:ext cx="9525" cy="1390650"/>
          </a:xfrm>
          <a:custGeom xmlns:a="http://schemas.openxmlformats.org/drawingml/2006/main">
            <a:pathLst>
              <a:path w="9525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A3A7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66237-6CDB-4FFE-8DC6-8AA0FD78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543550"/>
            <a:ext cx="152400" cy="190500"/>
          </a:xfrm>
          <a:custGeom xmlns:a="http://schemas.openxmlformats.org/drawingml/2006/main">
            <a:pathLst>
              <a:path w="152400" h="190500">
                <a:moveTo>
                  <a:pt x="76200" y="190500"/>
                </a:moveTo>
                <a:lnTo>
                  <a:pt x="1524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A3A7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6C681-4B39-425B-B5AC-70EC61AA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343400"/>
            <a:ext cx="9525" cy="1390650"/>
          </a:xfrm>
          <a:custGeom xmlns:a="http://schemas.openxmlformats.org/drawingml/2006/main">
            <a:pathLst>
              <a:path w="9525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A3A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D7256-E869-470F-95AE-E9E3CD89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5543550"/>
            <a:ext cx="152400" cy="190500"/>
          </a:xfrm>
          <a:custGeom xmlns:a="http://schemas.openxmlformats.org/drawingml/2006/main">
            <a:pathLst>
              <a:path w="152400" h="190500">
                <a:moveTo>
                  <a:pt x="76200" y="190500"/>
                </a:moveTo>
                <a:lnTo>
                  <a:pt x="1524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A3A7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D57FB-7592-4E73-A62B-CA7B455E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6459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D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9" name="控制容器 · 384 MiB / 1 CPU&#10;Python / SQLite / Docker En">
            <a:extLst xmlns:a="http://schemas.openxmlformats.org/drawingml/2006/main">
              <a:ext uri="{FF2B5EF4-FFF2-40B4-BE49-F238E27FC236}">
                <a16:creationId xmlns:a16="http://schemas.microsoft.com/office/drawing/2014/main" id="{A3451CEE-0FCA-40E5-AD7D-A29A943E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7029"/>
            <a:ext cx="16192500" cy="1406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控制容器 · 384 MiB / 1 CPU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5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Python / SQLite / Docker Engine 客户端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5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只读 checkout + 完整数据卷 + socket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BEC9A8-6481-4D56-9533-7ACAA730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76200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11" name="CBMC attempt 容器&#10;UID 10001 · 1 CPU · 1024 MiB&#10;仅挂当前 ">
            <a:extLst xmlns:a="http://schemas.openxmlformats.org/drawingml/2006/main">
              <a:ext uri="{FF2B5EF4-FFF2-40B4-BE49-F238E27FC236}">
                <a16:creationId xmlns:a16="http://schemas.microsoft.com/office/drawing/2014/main" id="{6BF40F45-0F2A-4AB8-8D2D-12C6EC40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77903"/>
            <a:ext cx="7353300" cy="1741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CBMC attempt 容器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UID 10001 · 1 CPU · 1024 MiB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仅挂当前 subpath → /work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只读输入 + 私有 HOME / TMP / XDG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D7E51-B4FE-4C64-8336-337679F1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34050"/>
            <a:ext cx="76200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13" name="ESBMC attempt 容器&#10;UID 10001 · 1 CPU · 1024 MiB&#10;仅挂当前">
            <a:extLst xmlns:a="http://schemas.openxmlformats.org/drawingml/2006/main">
              <a:ext uri="{FF2B5EF4-FFF2-40B4-BE49-F238E27FC236}">
                <a16:creationId xmlns:a16="http://schemas.microsoft.com/office/drawing/2014/main" id="{AC8D796F-E67A-4E4C-9253-2A3B3513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077903"/>
            <a:ext cx="7353300" cy="1741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ESBMC attempt 容器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UID 10001 · 1 CPU · 1024 MiB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仅挂当前 subpath → /work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只读输入 + 私有 HOME / TMP / XDG</a:t>
            </a:r>
          </a:p>
        </p:txBody>
      </p:sp>
      <p:sp>
        <p:nvSpPr>
          <p:cNvPr id="14" name="共用限制：禁网 · 根目录只读 · cap_drop ALL · no-new-privileges">
            <a:extLst xmlns:a="http://schemas.openxmlformats.org/drawingml/2006/main">
              <a:ext uri="{FF2B5EF4-FFF2-40B4-BE49-F238E27FC236}">
                <a16:creationId xmlns:a16="http://schemas.microsoft.com/office/drawing/2014/main" id="{02041FAE-F8A2-4ACF-B176-246D86C4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515350"/>
            <a:ext cx="1638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共用限制：禁网 · 根目录只读 · cap_drop ALL · no-new-privileges · 128 PID · /tmp 64 MiB</a:t>
            </a:r>
          </a:p>
        </p:txBody>
      </p:sp>
      <p:sp>
        <p:nvSpPr>
          <p:cNvPr id="15" name="工具读不到 peer / SQLite / checkout / socket；控制层持有 sock">
            <a:extLst xmlns:a="http://schemas.openxmlformats.org/drawingml/2006/main">
              <a:ext uri="{FF2B5EF4-FFF2-40B4-BE49-F238E27FC236}">
                <a16:creationId xmlns:a16="http://schemas.microsoft.com/office/drawing/2014/main" id="{BBA5EEBF-545C-469C-A50C-510D4256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163050"/>
            <a:ext cx="1638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工具读不到 peer / SQLite / checkout / socket；控制层持有 socket，属于可信本机 CLI。</a:t>
            </a:r>
          </a:p>
        </p:txBody>
      </p:sp>
      <p:sp>
        <p:nvSpPr>
          <p:cNvPr id="16" name="VeriRuntime  ·  compose.yaml  /  veriruntime/tools">
            <a:extLst xmlns:a="http://schemas.openxmlformats.org/drawingml/2006/main">
              <a:ext uri="{FF2B5EF4-FFF2-40B4-BE49-F238E27FC236}">
                <a16:creationId xmlns:a16="http://schemas.microsoft.com/office/drawing/2014/main" id="{3DD0EF7B-C7F1-4359-ADE7-36A7DF47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15500"/>
            <a:ext cx="1438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VeriRuntime  ·  compose.yaml  /  veriruntime/tools/docker_api.py</a:t>
            </a:r>
          </a:p>
        </p:txBody>
      </p:sp>
      <p:sp>
        <p:nvSpPr>
          <p:cNvPr id="17" name="10 / 22">
            <a:extLst xmlns:a="http://schemas.openxmlformats.org/drawingml/2006/main">
              <a:ext uri="{FF2B5EF4-FFF2-40B4-BE49-F238E27FC236}">
                <a16:creationId xmlns:a16="http://schemas.microsoft.com/office/drawing/2014/main" id="{1FC03049-2733-47A4-AE2F-BF90342B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96774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725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10 / 22</a:t>
            </a:r>
          </a:p>
        </p:txBody>
      </p:sp>
    </p:spTree>
    <p:extLst>
      <p:ext uri="{BB962C8B-B14F-4D97-AF65-F5344CB8AC3E}">
        <p14:creationId xmlns:p14="http://schemas.microsoft.com/office/powerpoint/2010/main" val="6258738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D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10 / 原生命令与日志">
            <a:extLst xmlns:a="http://schemas.openxmlformats.org/drawingml/2006/main">
              <a:ext uri="{FF2B5EF4-FFF2-40B4-BE49-F238E27FC236}">
                <a16:creationId xmlns:a16="http://schemas.microsoft.com/office/drawing/2014/main" id="{55F44D51-2A23-4E5B-8F0E-E60CE2D8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645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10 / 原生命令与日志</a:t>
            </a:r>
          </a:p>
        </p:txBody>
      </p:sp>
      <p:sp>
        <p:nvSpPr>
          <p:cNvPr id="2" name="两条实际命令，两份可解释的原始证据">
            <a:extLst xmlns:a="http://schemas.openxmlformats.org/drawingml/2006/main">
              <a:ext uri="{FF2B5EF4-FFF2-40B4-BE49-F238E27FC236}">
                <a16:creationId xmlns:a16="http://schemas.microsoft.com/office/drawing/2014/main" id="{31DA01BA-E923-4ED3-B19F-F350C153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5375"/>
            <a:ext cx="164592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两条实际命令，两份可解释的原始证据</a:t>
            </a:r>
          </a:p>
        </p:txBody>
      </p:sp>
      <p:sp>
        <p:nvSpPr>
          <p:cNvPr id="3" name="命令由 adapter 派生；exit 0、属性状态与终端记录共同决定解释">
            <a:extLst xmlns:a="http://schemas.openxmlformats.org/drawingml/2006/main">
              <a:ext uri="{FF2B5EF4-FFF2-40B4-BE49-F238E27FC236}">
                <a16:creationId xmlns:a16="http://schemas.microsoft.com/office/drawing/2014/main" id="{AC53CD25-7994-440A-AA12-9D5AAD08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638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命令由 adapter 派生；exit 0、属性状态与终端记录共同决定解释</a:t>
            </a:r>
          </a:p>
        </p:txBody>
      </p:sp>
      <p:sp>
        <p:nvSpPr>
          <p:cNvPr id="4" name="CBMC 6.11.0 · native-command.json">
            <a:extLst xmlns:a="http://schemas.openxmlformats.org/drawingml/2006/main">
              <a:ext uri="{FF2B5EF4-FFF2-40B4-BE49-F238E27FC236}">
                <a16:creationId xmlns:a16="http://schemas.microsoft.com/office/drawing/2014/main" id="{FDE9CE7D-5F68-43A8-B3B7-F342B214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CBMC 6.11.0 · native-command.json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E373A-C475-4915-9121-4B24282F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80010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D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6" name="/opt/cbmc/cbmc&#10;  /work/input/c/safe_assert.c&#10;  --f">
            <a:extLst xmlns:a="http://schemas.openxmlformats.org/drawingml/2006/main">
              <a:ext uri="{FF2B5EF4-FFF2-40B4-BE49-F238E27FC236}">
                <a16:creationId xmlns:a16="http://schemas.microsoft.com/office/drawing/2014/main" id="{27CD4826-8693-4554-AB68-F53FAFBD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05200"/>
            <a:ext cx="75438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/opt/cbmc/cbmc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/work/input/c/safe_assert.c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--function main --c11 --64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--unwind 64 --unwinding-assertions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--json-ui</a:t>
            </a:r>
          </a:p>
        </p:txBody>
      </p:sp>
      <p:sp>
        <p:nvSpPr>
          <p:cNvPr id="7" name="CBMC stdout JSON 节选">
            <a:extLst xmlns:a="http://schemas.openxmlformats.org/drawingml/2006/main">
              <a:ext uri="{FF2B5EF4-FFF2-40B4-BE49-F238E27FC236}">
                <a16:creationId xmlns:a16="http://schemas.microsoft.com/office/drawing/2014/main" id="{C99E007B-705D-4509-B0C8-910D8AB9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769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CBMC stdout JSON 节选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C1843-93D0-4E69-9714-618BB615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0"/>
            <a:ext cx="8001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D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9" name="&quot;property&quot;: &quot;main.assertion.1&quot;&#10;&quot;description&quot;: &quot;ass">
            <a:extLst xmlns:a="http://schemas.openxmlformats.org/drawingml/2006/main">
              <a:ext uri="{FF2B5EF4-FFF2-40B4-BE49-F238E27FC236}">
                <a16:creationId xmlns:a16="http://schemas.microsoft.com/office/drawing/2014/main" id="{BBF7FB91-154F-4BF2-B259-F0FCD3B4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743700"/>
            <a:ext cx="7543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"property": "main.assertion.1"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"description": "assertion x == 10"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"status": "SUCCESS"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...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"cProverStatus": "success"</a:t>
            </a:r>
          </a:p>
        </p:txBody>
      </p:sp>
      <p:sp>
        <p:nvSpPr>
          <p:cNvPr id="10" name="ESBMC 8.5.0 · native-command.json">
            <a:extLst xmlns:a="http://schemas.openxmlformats.org/drawingml/2006/main">
              <a:ext uri="{FF2B5EF4-FFF2-40B4-BE49-F238E27FC236}">
                <a16:creationId xmlns:a16="http://schemas.microsoft.com/office/drawing/2014/main" id="{8085C548-362A-48FE-98AD-E25417DE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384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ESBMC 8.5.0 · native-command.json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3B6432-0D4B-45E9-8753-9723B09E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33750"/>
            <a:ext cx="80010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D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12" name="/opt/esbmc/release/bin/esbmc&#10;  /work/input/c/safe_">
            <a:extLst xmlns:a="http://schemas.openxmlformats.org/drawingml/2006/main">
              <a:ext uri="{FF2B5EF4-FFF2-40B4-BE49-F238E27FC236}">
                <a16:creationId xmlns:a16="http://schemas.microsoft.com/office/drawing/2014/main" id="{44E02195-6A32-4B98-A08F-A7F37BE3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05200"/>
            <a:ext cx="75438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/opt/esbmc/release/bin/esbmc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/work/input/c/safe_assert.c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--function main --std c11 --64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--unwind 64 --z3 --multi-property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--overflow-check --ub-shift-check</a:t>
            </a:r>
          </a:p>
        </p:txBody>
      </p:sp>
      <p:sp>
        <p:nvSpPr>
          <p:cNvPr id="13" name="ESBMC stderr 节选">
            <a:extLst xmlns:a="http://schemas.openxmlformats.org/drawingml/2006/main">
              <a:ext uri="{FF2B5EF4-FFF2-40B4-BE49-F238E27FC236}">
                <a16:creationId xmlns:a16="http://schemas.microsoft.com/office/drawing/2014/main" id="{23788FA8-B38F-4DFE-B991-544EA842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0769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ESBMC stderr 节选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350F2-1019-4744-8849-DE246D4F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572250"/>
            <a:ext cx="8001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D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15" name="PASSED [main.assertion.1]&#10;       line 7  assertion">
            <a:extLst xmlns:a="http://schemas.openxmlformats.org/drawingml/2006/main">
              <a:ext uri="{FF2B5EF4-FFF2-40B4-BE49-F238E27FC236}">
                <a16:creationId xmlns:a16="http://schemas.microsoft.com/office/drawing/2014/main" id="{DE5E8F30-0BA5-413F-A278-21F88269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743700"/>
            <a:ext cx="7543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PASSED [main.assertion.1]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     line 7  assertion x == 10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** 0 of 3 properties failed, 3 passed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VERIFICATION SUCCESSFUL</a:t>
            </a:r>
          </a:p>
        </p:txBody>
      </p:sp>
      <p:sp>
        <p:nvSpPr>
          <p:cNvPr id="16" name="VeriRuntime  ·  report-evidence.json: native_comma">
            <a:extLst xmlns:a="http://schemas.openxmlformats.org/drawingml/2006/main">
              <a:ext uri="{FF2B5EF4-FFF2-40B4-BE49-F238E27FC236}">
                <a16:creationId xmlns:a16="http://schemas.microsoft.com/office/drawing/2014/main" id="{7C35A698-E4C3-440F-9871-7588F2D6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15500"/>
            <a:ext cx="1438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VeriRuntime  ·  report-evidence.json: native_commands / raw_outputs  /  veriruntime/tools/cbmc.py</a:t>
            </a:r>
          </a:p>
        </p:txBody>
      </p:sp>
      <p:sp>
        <p:nvSpPr>
          <p:cNvPr id="17" name="11 / 22">
            <a:extLst xmlns:a="http://schemas.openxmlformats.org/drawingml/2006/main">
              <a:ext uri="{FF2B5EF4-FFF2-40B4-BE49-F238E27FC236}">
                <a16:creationId xmlns:a16="http://schemas.microsoft.com/office/drawing/2014/main" id="{17447E5E-0722-45FC-A78E-5443595C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96774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725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11 / 22</a:t>
            </a:r>
          </a:p>
        </p:txBody>
      </p:sp>
    </p:spTree>
    <p:extLst>
      <p:ext uri="{BB962C8B-B14F-4D97-AF65-F5344CB8AC3E}">
        <p14:creationId xmlns:p14="http://schemas.microsoft.com/office/powerpoint/2010/main" val="15677728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D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11 / 并行与归并">
            <a:extLst xmlns:a="http://schemas.openxmlformats.org/drawingml/2006/main">
              <a:ext uri="{FF2B5EF4-FFF2-40B4-BE49-F238E27FC236}">
                <a16:creationId xmlns:a16="http://schemas.microsoft.com/office/drawing/2014/main" id="{A0E0B176-814F-4B8F-9E27-689B2A36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645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11 / 并行与归并</a:t>
            </a:r>
          </a:p>
        </p:txBody>
      </p:sp>
      <p:sp>
        <p:nvSpPr>
          <p:cNvPr id="2" name="满足两家族确认之后结束目标">
            <a:extLst xmlns:a="http://schemas.openxmlformats.org/drawingml/2006/main">
              <a:ext uri="{FF2B5EF4-FFF2-40B4-BE49-F238E27FC236}">
                <a16:creationId xmlns:a16="http://schemas.microsoft.com/office/drawing/2014/main" id="{E2524D4C-52D9-4775-B437-C6E53BD0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5375"/>
            <a:ext cx="164592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满足两家族确认之后结束目标</a:t>
            </a:r>
          </a:p>
        </p:txBody>
      </p:sp>
      <p:sp>
        <p:nvSpPr>
          <p:cNvPr id="3" name="本机记录：2026-10-06；下面是目标与 attempt 的 wall_time，非 CLI 端">
            <a:extLst xmlns:a="http://schemas.openxmlformats.org/drawingml/2006/main">
              <a:ext uri="{FF2B5EF4-FFF2-40B4-BE49-F238E27FC236}">
                <a16:creationId xmlns:a16="http://schemas.microsoft.com/office/drawing/2014/main" id="{C8263D29-F81D-4251-9387-906016C9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638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本机记录：2026-10-06；下面是目标与 attempt 的 wall_time，非 CLI 端到端</a:t>
            </a:r>
          </a:p>
        </p:txBody>
      </p:sp>
      <p:sp>
        <p:nvSpPr>
          <p:cNvPr id="4" name="CBMC">
            <a:extLst xmlns:a="http://schemas.openxmlformats.org/drawingml/2006/main">
              <a:ext uri="{FF2B5EF4-FFF2-40B4-BE49-F238E27FC236}">
                <a16:creationId xmlns:a16="http://schemas.microsoft.com/office/drawing/2014/main" id="{1DCDD597-F62C-4133-9D00-27BB4579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CBMC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B9442-DA23-40E5-BCA2-6DC58710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8820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7A"/>
          </a:solidFill>
          <a:ln xmlns:a="http://schemas.openxmlformats.org/drawingml/2006/main" w="9525">
            <a:solidFill>
              <a:srgbClr val="1A3A7A"/>
            </a:solidFill>
            <a:prstDash val="solid"/>
          </a:ln>
        </p:spPr>
      </p:sp>
      <p:sp>
        <p:nvSpPr>
          <p:cNvPr id="6" name="SAFE · attempt 1.076 s">
            <a:extLst xmlns:a="http://schemas.openxmlformats.org/drawingml/2006/main">
              <a:ext uri="{FF2B5EF4-FFF2-40B4-BE49-F238E27FC236}">
                <a16:creationId xmlns:a16="http://schemas.microsoft.com/office/drawing/2014/main" id="{0E854713-90FE-421E-B8E1-F3A35BC9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43275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SAFE · attempt 1.076 s</a:t>
            </a:r>
          </a:p>
        </p:txBody>
      </p:sp>
      <p:sp>
        <p:nvSpPr>
          <p:cNvPr id="7" name="ESBMC">
            <a:extLst xmlns:a="http://schemas.openxmlformats.org/drawingml/2006/main">
              <a:ext uri="{FF2B5EF4-FFF2-40B4-BE49-F238E27FC236}">
                <a16:creationId xmlns:a16="http://schemas.microsoft.com/office/drawing/2014/main" id="{A0F59C0D-9B5E-45EC-807E-6BAD9225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ESBMC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3E64B-0832-48C6-9094-A533261D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29150"/>
            <a:ext cx="116300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7A"/>
          </a:solidFill>
          <a:ln xmlns:a="http://schemas.openxmlformats.org/drawingml/2006/main" w="9525">
            <a:solidFill>
              <a:srgbClr val="1A3A7A"/>
            </a:solidFill>
            <a:prstDash val="solid"/>
          </a:ln>
        </p:spPr>
      </p:sp>
      <p:sp>
        <p:nvSpPr>
          <p:cNvPr id="9" name="SAFE · attempt 1.419 s">
            <a:extLst xmlns:a="http://schemas.openxmlformats.org/drawingml/2006/main">
              <a:ext uri="{FF2B5EF4-FFF2-40B4-BE49-F238E27FC236}">
                <a16:creationId xmlns:a16="http://schemas.microsoft.com/office/drawing/2014/main" id="{557D1575-24E2-4E05-8692-2D119CB0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339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SAFE · attempt 1.419 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E6F4C-DC6E-43C2-8E82-1C05C9DA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210300"/>
            <a:ext cx="12896850" cy="9525"/>
          </a:xfrm>
          <a:custGeom xmlns:a="http://schemas.openxmlformats.org/drawingml/2006/main">
            <a:pathLst>
              <a:path w="12896850" h="9525">
                <a:moveTo>
                  <a:pt x="0" y="0"/>
                </a:moveTo>
                <a:lnTo>
                  <a:pt x="12896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6C4BC"/>
            </a:solidFill>
            <a:prstDash val="solid"/>
          </a:ln>
        </p:spPr>
      </p:sp>
      <p:sp>
        <p:nvSpPr>
          <p:cNvPr id="11" name="0 s">
            <a:extLst xmlns:a="http://schemas.openxmlformats.org/drawingml/2006/main">
              <a:ext uri="{FF2B5EF4-FFF2-40B4-BE49-F238E27FC236}">
                <a16:creationId xmlns:a16="http://schemas.microsoft.com/office/drawing/2014/main" id="{06F637AB-BDA6-4B5F-95BF-021F9A79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 s</a:t>
            </a:r>
          </a:p>
        </p:txBody>
      </p:sp>
      <p:sp>
        <p:nvSpPr>
          <p:cNvPr id="12" name="1.577 s · goal">
            <a:extLst xmlns:a="http://schemas.openxmlformats.org/drawingml/2006/main">
              <a:ext uri="{FF2B5EF4-FFF2-40B4-BE49-F238E27FC236}">
                <a16:creationId xmlns:a16="http://schemas.microsoft.com/office/drawing/2014/main" id="{38F1DFF9-41DC-4826-9D22-E1BE003A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4198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21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1.577 s · goal</a:t>
            </a:r>
          </a:p>
        </p:txBody>
      </p:sp>
      <p:sp>
        <p:nvSpPr>
          <p:cNvPr id="13" name="解析两份已完成结果 → 不同家族数 = 2 → REQUIREMENTS_MET">
            <a:extLst xmlns:a="http://schemas.openxmlformats.org/drawingml/2006/main">
              <a:ext uri="{FF2B5EF4-FFF2-40B4-BE49-F238E27FC236}">
                <a16:creationId xmlns:a16="http://schemas.microsoft.com/office/drawing/2014/main" id="{9E2F1B44-77B3-46FB-9D4D-F97B5EF3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24750"/>
            <a:ext cx="1609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解析两份已完成结果 → 不同家族数 = 2 → REQUIREMENTS_MET</a:t>
            </a:r>
          </a:p>
        </p:txBody>
      </p:sp>
      <p:sp>
        <p:nvSpPr>
          <p:cNvPr id="14" name="一票 SAFE 时仍需等待；同批出现相反结果，优先报告 CONFLICT。">
            <a:extLst xmlns:a="http://schemas.openxmlformats.org/drawingml/2006/main">
              <a:ext uri="{FF2B5EF4-FFF2-40B4-BE49-F238E27FC236}">
                <a16:creationId xmlns:a16="http://schemas.microsoft.com/office/drawing/2014/main" id="{4238325B-210B-49A8-93E2-1CD87310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620125"/>
            <a:ext cx="1619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一票 SAFE 时仍需等待；同批出现相反结果，优先报告 CONFLICT。</a:t>
            </a:r>
          </a:p>
        </p:txBody>
      </p:sp>
      <p:sp>
        <p:nvSpPr>
          <p:cNvPr id="15" name="VeriRuntime  ·  report-evidence.json: first.result">
            <a:extLst xmlns:a="http://schemas.openxmlformats.org/drawingml/2006/main">
              <a:ext uri="{FF2B5EF4-FFF2-40B4-BE49-F238E27FC236}">
                <a16:creationId xmlns:a16="http://schemas.microsoft.com/office/drawing/2014/main" id="{BC4CD1A2-61B7-4B01-87CE-BD7765A9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15500"/>
            <a:ext cx="1438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VeriRuntime  ·  report-evidence.json: first.result / attempts / events  /  veriruntime/runtime/engine.py</a:t>
            </a:r>
          </a:p>
        </p:txBody>
      </p:sp>
      <p:sp>
        <p:nvSpPr>
          <p:cNvPr id="16" name="12 / 22">
            <a:extLst xmlns:a="http://schemas.openxmlformats.org/drawingml/2006/main">
              <a:ext uri="{FF2B5EF4-FFF2-40B4-BE49-F238E27FC236}">
                <a16:creationId xmlns:a16="http://schemas.microsoft.com/office/drawing/2014/main" id="{222902F5-7132-4425-B268-47B75E6C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96774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725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12 / 22</a:t>
            </a:r>
          </a:p>
        </p:txBody>
      </p:sp>
    </p:spTree>
    <p:extLst>
      <p:ext uri="{BB962C8B-B14F-4D97-AF65-F5344CB8AC3E}">
        <p14:creationId xmlns:p14="http://schemas.microsoft.com/office/powerpoint/2010/main" val="4602282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D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12 / 示例输出">
            <a:extLst xmlns:a="http://schemas.openxmlformats.org/drawingml/2006/main">
              <a:ext uri="{FF2B5EF4-FFF2-40B4-BE49-F238E27FC236}">
                <a16:creationId xmlns:a16="http://schemas.microsoft.com/office/drawing/2014/main" id="{AED07AAD-6368-4BB0-AE4E-8C77DF8A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645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12 / 示例输出</a:t>
            </a:r>
          </a:p>
        </p:txBody>
      </p:sp>
      <p:sp>
        <p:nvSpPr>
          <p:cNvPr id="2" name="返回结论，也返回结论的来源">
            <a:extLst xmlns:a="http://schemas.openxmlformats.org/drawingml/2006/main">
              <a:ext uri="{FF2B5EF4-FFF2-40B4-BE49-F238E27FC236}">
                <a16:creationId xmlns:a16="http://schemas.microsoft.com/office/drawing/2014/main" id="{E1AEA9A0-771E-49C3-B3F8-555FF98F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5375"/>
            <a:ext cx="164592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返回结论，也返回结论的来源</a:t>
            </a:r>
          </a:p>
        </p:txBody>
      </p:sp>
      <p:sp>
        <p:nvSpPr>
          <p:cNvPr id="3" name="CLI verify --json → workflow 结果 → goal.report.resu">
            <a:extLst xmlns:a="http://schemas.openxmlformats.org/drawingml/2006/main">
              <a:ext uri="{FF2B5EF4-FFF2-40B4-BE49-F238E27FC236}">
                <a16:creationId xmlns:a16="http://schemas.microsoft.com/office/drawing/2014/main" id="{3F8C5A49-7AF8-4AD0-81A3-3263ED11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638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CLI verify --json → workflow 结果 → goal.report.result / attempts / artifacts</a:t>
            </a:r>
          </a:p>
        </p:txBody>
      </p:sp>
      <p:sp>
        <p:nvSpPr>
          <p:cNvPr id="4" name="实际 result.json 节选">
            <a:extLst xmlns:a="http://schemas.openxmlformats.org/drawingml/2006/main">
              <a:ext uri="{FF2B5EF4-FFF2-40B4-BE49-F238E27FC236}">
                <a16:creationId xmlns:a16="http://schemas.microsoft.com/office/drawing/2014/main" id="{38549053-3B87-44F8-9684-C29C4DA4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0512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实际 result.json 节选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5ADB3-B13F-4E25-913E-05845D24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0425"/>
            <a:ext cx="92392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D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6" name="{&#10;  &quot;execution_id&quot;:&quot;76b5d09d25784a868368601ab8b0a3">
            <a:extLst xmlns:a="http://schemas.openxmlformats.org/drawingml/2006/main">
              <a:ext uri="{FF2B5EF4-FFF2-40B4-BE49-F238E27FC236}">
                <a16:creationId xmlns:a16="http://schemas.microsoft.com/office/drawing/2014/main" id="{D975BC91-C881-45FF-9AD8-94704AA2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71875"/>
            <a:ext cx="87820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"execution_id":"76b5d09d25784a868368601ab8b0a36a",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"goal_id":"safe-assert-crosscheck",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"verdict":"SAFE",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"confirmations":2,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"requirement_satisfied":true,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"cache_hit":false,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"status":"COMPLETED",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"termination_reason":"REQUIREMENTS_MET",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"wall_time_sec":1.5767692249974061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25 个工件引用">
            <a:extLst xmlns:a="http://schemas.openxmlformats.org/drawingml/2006/main">
              <a:ext uri="{FF2B5EF4-FFF2-40B4-BE49-F238E27FC236}">
                <a16:creationId xmlns:a16="http://schemas.microsoft.com/office/drawing/2014/main" id="{F1C34578-AA91-400A-8912-706F0A77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143250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25 个工件引用</a:t>
            </a:r>
          </a:p>
        </p:txBody>
      </p:sp>
      <p:sp>
        <p:nvSpPr>
          <p:cNvPr id="8" name="逻辑目标 / 物理计划 / 候选得分&#10;命令 / spec / outcome / 容器身份&#10;stdo">
            <a:extLst xmlns:a="http://schemas.openxmlformats.org/drawingml/2006/main">
              <a:ext uri="{FF2B5EF4-FFF2-40B4-BE49-F238E27FC236}">
                <a16:creationId xmlns:a16="http://schemas.microsoft.com/office/drawing/2014/main" id="{126A6A09-6727-4A47-890F-1F863E9F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210050"/>
            <a:ext cx="657225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逻辑目标 / 物理计划 / 候选得分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命令 / spec / outcome / 容器身份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stdout / stderr / 事件 / 结果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每个工件记录 SHA-256 和来源</a:t>
            </a:r>
          </a:p>
        </p:txBody>
      </p:sp>
      <p:sp>
        <p:nvSpPr>
          <p:cNvPr id="9" name="执行目录（前缀节选）">
            <a:extLst xmlns:a="http://schemas.openxmlformats.org/drawingml/2006/main">
              <a:ext uri="{FF2B5EF4-FFF2-40B4-BE49-F238E27FC236}">
                <a16:creationId xmlns:a16="http://schemas.microsoft.com/office/drawing/2014/main" id="{04787B95-8107-4186-A0CD-27E52B02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72450"/>
            <a:ext cx="1333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执行目录（前缀节选）</a:t>
            </a:r>
          </a:p>
        </p:txBody>
      </p:sp>
      <p:sp>
        <p:nvSpPr>
          <p:cNvPr id="10" name="/data/quickstart-…/executions/76b5…/&lt;attempt_id&gt;/">
            <a:extLst xmlns:a="http://schemas.openxmlformats.org/drawingml/2006/main">
              <a:ext uri="{FF2B5EF4-FFF2-40B4-BE49-F238E27FC236}">
                <a16:creationId xmlns:a16="http://schemas.microsoft.com/office/drawing/2014/main" id="{13EA9B7B-EE75-481E-926F-28CF95D9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63000"/>
            <a:ext cx="1628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/data/quickstart-…/executions/76b5…/&lt;attempt_id&gt;/</a:t>
            </a:r>
          </a:p>
        </p:txBody>
      </p:sp>
      <p:sp>
        <p:nvSpPr>
          <p:cNvPr id="11" name="VeriRuntime  ·  report-evidence.json: first.result">
            <a:extLst xmlns:a="http://schemas.openxmlformats.org/drawingml/2006/main">
              <a:ext uri="{FF2B5EF4-FFF2-40B4-BE49-F238E27FC236}">
                <a16:creationId xmlns:a16="http://schemas.microsoft.com/office/drawing/2014/main" id="{E48911AC-ECB7-4E1F-AA48-E57CC6D5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15500"/>
            <a:ext cx="1438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VeriRuntime  ·  report-evidence.json: first.result  /  veriruntime/artifacts.py</a:t>
            </a:r>
          </a:p>
        </p:txBody>
      </p:sp>
      <p:sp>
        <p:nvSpPr>
          <p:cNvPr id="12" name="13 / 22">
            <a:extLst xmlns:a="http://schemas.openxmlformats.org/drawingml/2006/main">
              <a:ext uri="{FF2B5EF4-FFF2-40B4-BE49-F238E27FC236}">
                <a16:creationId xmlns:a16="http://schemas.microsoft.com/office/drawing/2014/main" id="{8C5C087D-4A92-4437-99E7-7BC8E604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96774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725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13 / 22</a:t>
            </a:r>
          </a:p>
        </p:txBody>
      </p:sp>
    </p:spTree>
    <p:extLst>
      <p:ext uri="{BB962C8B-B14F-4D97-AF65-F5344CB8AC3E}">
        <p14:creationId xmlns:p14="http://schemas.microsoft.com/office/powerpoint/2010/main" val="3336232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D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13 / 重复请求">
            <a:extLst xmlns:a="http://schemas.openxmlformats.org/drawingml/2006/main">
              <a:ext uri="{FF2B5EF4-FFF2-40B4-BE49-F238E27FC236}">
                <a16:creationId xmlns:a16="http://schemas.microsoft.com/office/drawing/2014/main" id="{70E05528-5303-4F29-BFEE-53F6AE4C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645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13 / 重复请求</a:t>
            </a:r>
          </a:p>
        </p:txBody>
      </p:sp>
      <p:sp>
        <p:nvSpPr>
          <p:cNvPr id="2" name="命中缓存仍校验证据，仍产生新执行记录">
            <a:extLst xmlns:a="http://schemas.openxmlformats.org/drawingml/2006/main">
              <a:ext uri="{FF2B5EF4-FFF2-40B4-BE49-F238E27FC236}">
                <a16:creationId xmlns:a16="http://schemas.microsoft.com/office/drawing/2014/main" id="{08A7ACAA-F11E-4B3D-932B-79414900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5375"/>
            <a:ext cx="164592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命中缓存仍校验证据，仍产生新执行记录</a:t>
            </a:r>
          </a:p>
        </p:txBody>
      </p:sp>
      <p:sp>
        <p:nvSpPr>
          <p:cNvPr id="3" name="逻辑目标相同 + 环境身份相同 + 工件完整 + 确认要求足够">
            <a:extLst xmlns:a="http://schemas.openxmlformats.org/drawingml/2006/main">
              <a:ext uri="{FF2B5EF4-FFF2-40B4-BE49-F238E27FC236}">
                <a16:creationId xmlns:a16="http://schemas.microsoft.com/office/drawing/2014/main" id="{5AE92B3F-AC13-4FEC-A02E-2D4E0AB0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638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逻辑目标相同 + 环境身份相同 + 工件完整 + 确认要求足够</a:t>
            </a:r>
          </a:p>
        </p:txBody>
      </p:sp>
      <p:sp>
        <p:nvSpPr>
          <p:cNvPr id="4" name="CacheLookup + fallback">
            <a:extLst xmlns:a="http://schemas.openxmlformats.org/drawingml/2006/main">
              <a:ext uri="{FF2B5EF4-FFF2-40B4-BE49-F238E27FC236}">
                <a16:creationId xmlns:a16="http://schemas.microsoft.com/office/drawing/2014/main" id="{DD41381A-B6A2-4F48-ADD7-05A4A671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771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CacheLookup + fallback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FE99E-A17C-4466-A62C-1269F87F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77152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D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6" name="CacheLookup(&#10;  semantic_key=&quot;c61c1d87...&quot;,&#10;  min_c">
            <a:extLst xmlns:a="http://schemas.openxmlformats.org/drawingml/2006/main">
              <a:ext uri="{FF2B5EF4-FFF2-40B4-BE49-F238E27FC236}">
                <a16:creationId xmlns:a16="http://schemas.microsoft.com/office/drawing/2014/main" id="{0E6E28C4-A763-40B0-979F-4808CD18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72580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CacheLookup(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semantic_key="c61c1d87...",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min_confirmations=2,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fallback=Sequence(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  Parallel(CBMC, ESBMC), CPAchecker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)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7" name="实际重复结果节选">
            <a:extLst xmlns:a="http://schemas.openxmlformats.org/drawingml/2006/main">
              <a:ext uri="{FF2B5EF4-FFF2-40B4-BE49-F238E27FC236}">
                <a16:creationId xmlns:a16="http://schemas.microsoft.com/office/drawing/2014/main" id="{ECD86EDF-09CC-4801-A93F-5471E84C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52750"/>
            <a:ext cx="815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实际重复结果节选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39891-4521-45E2-ABDD-0F6BCCD9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48050"/>
            <a:ext cx="81534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D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9" name="&quot;verdict&quot;: &quot;SAFE&quot;&#10;&quot;confirmations&quot;: 2&#10;&quot;cache_hit&quot;: ">
            <a:extLst xmlns:a="http://schemas.openxmlformats.org/drawingml/2006/main">
              <a:ext uri="{FF2B5EF4-FFF2-40B4-BE49-F238E27FC236}">
                <a16:creationId xmlns:a16="http://schemas.microsoft.com/office/drawing/2014/main" id="{3F43134D-C62C-4EDF-8D0F-0659D79F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19500"/>
            <a:ext cx="76962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"verdict": "SAFE"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75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"confirmations": 2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75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"cache_hit": true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75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"attempt_ids": []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75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"wall_time_sec": 0.01679892100219149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75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"source_execution_id":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75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"76b5d09d25784a868368601ab8b0a36a"</a:t>
            </a:r>
          </a:p>
        </p:txBody>
      </p:sp>
      <p:sp>
        <p:nvSpPr>
          <p:cNvPr id="10" name="缓存身份包含工具版本 / 配置 / 精确镜像；复核 SHA-256 与原始来源。">
            <a:extLst xmlns:a="http://schemas.openxmlformats.org/drawingml/2006/main">
              <a:ext uri="{FF2B5EF4-FFF2-40B4-BE49-F238E27FC236}">
                <a16:creationId xmlns:a16="http://schemas.microsoft.com/office/drawing/2014/main" id="{5A60615D-8BCF-497C-B59A-1CF74DC7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81850"/>
            <a:ext cx="1609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缓存身份包含工具版本 / 配置 / 精确镜像；复核 SHA-256 与原始来源。</a:t>
            </a:r>
          </a:p>
        </p:txBody>
      </p:sp>
      <p:sp>
        <p:nvSpPr>
          <p:cNvPr id="11" name="冲突历史使缓存失效；旧工件留存。此例没有启动验证命令，仍可能有工具探测。">
            <a:extLst xmlns:a="http://schemas.openxmlformats.org/drawingml/2006/main">
              <a:ext uri="{FF2B5EF4-FFF2-40B4-BE49-F238E27FC236}">
                <a16:creationId xmlns:a16="http://schemas.microsoft.com/office/drawing/2014/main" id="{71D6161B-3355-4CC7-BE49-60A9B813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77250"/>
            <a:ext cx="1619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冲突历史使缓存失效；旧工件留存。此例没有启动验证命令，仍可能有工具探测。</a:t>
            </a:r>
          </a:p>
        </p:txBody>
      </p:sp>
      <p:sp>
        <p:nvSpPr>
          <p:cNvPr id="12" name="VeriRuntime  ·  report-evidence.json: repeat  /  v">
            <a:extLst xmlns:a="http://schemas.openxmlformats.org/drawingml/2006/main">
              <a:ext uri="{FF2B5EF4-FFF2-40B4-BE49-F238E27FC236}">
                <a16:creationId xmlns:a16="http://schemas.microsoft.com/office/drawing/2014/main" id="{634007F2-3992-4316-9CCC-C89B9B05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15500"/>
            <a:ext cx="1438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VeriRuntime  ·  report-evidence.json: repeat  /  veriruntime/cache.py</a:t>
            </a:r>
          </a:p>
        </p:txBody>
      </p:sp>
      <p:sp>
        <p:nvSpPr>
          <p:cNvPr id="13" name="14 / 22">
            <a:extLst xmlns:a="http://schemas.openxmlformats.org/drawingml/2006/main">
              <a:ext uri="{FF2B5EF4-FFF2-40B4-BE49-F238E27FC236}">
                <a16:creationId xmlns:a16="http://schemas.microsoft.com/office/drawing/2014/main" id="{1284EC90-4EFA-4B51-9C23-EEC256C8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96774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725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14 / 22</a:t>
            </a:r>
          </a:p>
        </p:txBody>
      </p:sp>
    </p:spTree>
    <p:extLst>
      <p:ext uri="{BB962C8B-B14F-4D97-AF65-F5344CB8AC3E}">
        <p14:creationId xmlns:p14="http://schemas.microsoft.com/office/powerpoint/2010/main" val="8971674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D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14 / 控制流程与可信结果">
            <a:extLst xmlns:a="http://schemas.openxmlformats.org/drawingml/2006/main">
              <a:ext uri="{FF2B5EF4-FFF2-40B4-BE49-F238E27FC236}">
                <a16:creationId xmlns:a16="http://schemas.microsoft.com/office/drawing/2014/main" id="{E3032319-F579-4DA1-ABAD-9232EAF6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645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14 / 控制流程与可信结果</a:t>
            </a:r>
          </a:p>
        </p:txBody>
      </p:sp>
      <p:sp>
        <p:nvSpPr>
          <p:cNvPr id="2" name="工作流边表示执行门槛，不自动组合定理">
            <a:extLst xmlns:a="http://schemas.openxmlformats.org/drawingml/2006/main">
              <a:ext uri="{FF2B5EF4-FFF2-40B4-BE49-F238E27FC236}">
                <a16:creationId xmlns:a16="http://schemas.microsoft.com/office/drawing/2014/main" id="{79E4DB38-6434-4643-AF9E-20D4B65D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5375"/>
            <a:ext cx="164592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工作流边表示执行门槛，不自动组合定理</a:t>
            </a:r>
          </a:p>
        </p:txBody>
      </p:sp>
      <p:sp>
        <p:nvSpPr>
          <p:cNvPr id="3" name="当前 ready goals 顺序执行；每个 goal 内部可以并行工具">
            <a:extLst xmlns:a="http://schemas.openxmlformats.org/drawingml/2006/main">
              <a:ext uri="{FF2B5EF4-FFF2-40B4-BE49-F238E27FC236}">
                <a16:creationId xmlns:a16="http://schemas.microsoft.com/office/drawing/2014/main" id="{789459EF-0191-4F3E-A505-86306D4B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638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当前 ready goals 顺序执行；每个 goal 内部可以并行工具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914400" y="2819400"/>
          <a:ext xmlns:a="http://schemas.openxmlformats.org/drawingml/2006/main" cx="16459200" cy="5905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953000"/>
                <a:gridCol w="5429250"/>
                <a:gridCol w="6076950"/>
              </a:tblGrid>
              <a:tr h="118110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情况</a:t>
                      </a:r>
                    </a:p>
                  </a:txBody>
                  <a:tcPr marL="91440" marR="91440" marT="45720" marB="45720" anchor="ctr">
                    <a:solidFill>
                      <a:srgbClr val="1A3A7A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当前输出或执行行为</a:t>
                      </a:r>
                    </a:p>
                  </a:txBody>
                  <a:tcPr marL="91440" marR="91440" marT="45720" marB="45720" anchor="ctr">
                    <a:solidFill>
                      <a:srgbClr val="1A3A7A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</a:t>
                      </a:r>
                    </a:p>
                  </a:txBody>
                  <a:tcPr marL="91440" marR="91440" marT="45720" marB="45720" anchor="ctr">
                    <a:solidFill>
                      <a:srgbClr val="1A3A7A"/>
                    </a:solidFill>
                  </a:tcPr>
                </a:tc>
              </a:tr>
              <a:tr h="118110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32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前置 goal 达到指定 verdict + 确认数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32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后继 goal 才进入 ready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32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控制依赖，不传播逻辑假设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8110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32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 / 展开不足 / 不支持 / 不完整日志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32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UNKNOWN；必要时后继 BLOCKED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32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不能当作 SAFE 或具体反例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8110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32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看到相反确定结果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32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CONFLICT，优先于多数票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32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需要保留与调查两方证据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8110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32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只有一族结论，要求两族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32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requirement_satisfied=false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32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不能自动降低确认要求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LLM planner 当前只校验并选择已有形式化目标；无任意分解或自动证明生成。">
            <a:extLst xmlns:a="http://schemas.openxmlformats.org/drawingml/2006/main">
              <a:ext uri="{FF2B5EF4-FFF2-40B4-BE49-F238E27FC236}">
                <a16:creationId xmlns:a16="http://schemas.microsoft.com/office/drawing/2014/main" id="{8C4DE883-90CC-4740-BC8B-87E6B4B7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91575"/>
            <a:ext cx="1619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LLM planner 当前只校验并选择已有形式化目标；无任意分解或自动证明生成。</a:t>
            </a:r>
          </a:p>
        </p:txBody>
      </p:sp>
      <p:sp>
        <p:nvSpPr>
          <p:cNvPr id="6" name="VeriRuntime  ·  veriruntime/service.py  /  verirun">
            <a:extLst xmlns:a="http://schemas.openxmlformats.org/drawingml/2006/main">
              <a:ext uri="{FF2B5EF4-FFF2-40B4-BE49-F238E27FC236}">
                <a16:creationId xmlns:a16="http://schemas.microsoft.com/office/drawing/2014/main" id="{DF18B142-C144-49A8-A6D4-2F9AA55A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15500"/>
            <a:ext cx="1438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VeriRuntime  ·  veriruntime/service.py  /  veriruntime/model.py</a:t>
            </a:r>
          </a:p>
        </p:txBody>
      </p:sp>
      <p:sp>
        <p:nvSpPr>
          <p:cNvPr id="7" name="15 / 22">
            <a:extLst xmlns:a="http://schemas.openxmlformats.org/drawingml/2006/main">
              <a:ext uri="{FF2B5EF4-FFF2-40B4-BE49-F238E27FC236}">
                <a16:creationId xmlns:a16="http://schemas.microsoft.com/office/drawing/2014/main" id="{ED7B5995-6922-469D-A728-AE7C0040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96774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725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15 / 22</a:t>
            </a:r>
          </a:p>
        </p:txBody>
      </p:sp>
    </p:spTree>
    <p:extLst>
      <p:ext uri="{BB962C8B-B14F-4D97-AF65-F5344CB8AC3E}">
        <p14:creationId xmlns:p14="http://schemas.microsoft.com/office/powerpoint/2010/main" val="2352643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D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15 / 已完成的资格验证">
            <a:extLst xmlns:a="http://schemas.openxmlformats.org/drawingml/2006/main">
              <a:ext uri="{FF2B5EF4-FFF2-40B4-BE49-F238E27FC236}">
                <a16:creationId xmlns:a16="http://schemas.microsoft.com/office/drawing/2014/main" id="{75FF4854-30BC-4DD3-AFA7-751D6FAD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645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15 / 已完成的资格验证</a:t>
            </a:r>
          </a:p>
        </p:txBody>
      </p:sp>
      <p:sp>
        <p:nvSpPr>
          <p:cNvPr id="2" name="工具扩展已运行，覆盖范围仍然很小">
            <a:extLst xmlns:a="http://schemas.openxmlformats.org/drawingml/2006/main">
              <a:ext uri="{FF2B5EF4-FFF2-40B4-BE49-F238E27FC236}">
                <a16:creationId xmlns:a16="http://schemas.microsoft.com/office/drawing/2014/main" id="{08ECA041-A62E-4057-9779-066D65EF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5375"/>
            <a:ext cx="164592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工具扩展已运行，覆盖范围仍然很小</a:t>
            </a:r>
          </a:p>
        </p:txBody>
      </p:sp>
      <p:sp>
        <p:nvSpPr>
          <p:cNvPr id="3" name="既有 M11：128 tests 通过（112 unit + 16 integration）；本次汇">
            <a:extLst xmlns:a="http://schemas.openxmlformats.org/drawingml/2006/main">
              <a:ext uri="{FF2B5EF4-FFF2-40B4-BE49-F238E27FC236}">
                <a16:creationId xmlns:a16="http://schemas.microsoft.com/office/drawing/2014/main" id="{A9359D9A-D93A-4C05-BFD0-AE637C04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638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既有 M11：128 tests 通过（112 unit + 16 integration）；本次汇报复核原始记录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914400" y="2781300"/>
          <a:ext xmlns:a="http://schemas.openxmlformats.org/drawingml/2006/main" cx="16459200" cy="6057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810000"/>
                <a:gridCol w="6267450"/>
                <a:gridCol w="6381750"/>
              </a:tblGrid>
              <a:tr h="100965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</a:t>
                      </a:r>
                    </a:p>
                  </a:txBody>
                  <a:tcPr marL="91440" marR="91440" marT="45720" marB="45720" anchor="ctr">
                    <a:solidFill>
                      <a:srgbClr val="1A3A7A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真实结果</a:t>
                      </a:r>
                    </a:p>
                  </a:txBody>
                  <a:tcPr marL="91440" marR="91440" marT="45720" marB="45720" anchor="ctr">
                    <a:solidFill>
                      <a:srgbClr val="1A3A7A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</a:t>
                      </a:r>
                    </a:p>
                  </a:txBody>
                  <a:tcPr marL="91440" marR="91440" marT="45720" marB="45720" anchor="ctr">
                    <a:solidFill>
                      <a:srgbClr val="1A3A7A"/>
                    </a:solidFill>
                  </a:tcPr>
                </a:tc>
              </a:tr>
              <a:tr h="100965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CBMC / ESBMC / CPAchecker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个 C 小例：4 SAFE / 2 UNSAFE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双家族 12 次、三家族 18 次尝试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基础断言路径；不是大型 benchmark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Ultimate / Eva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Ultimate：4 SAFE / 2 UNSAFE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Eva：4 SAFE / 2 UNKNOWN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扩展矩阵按 min_confirmations=1 运行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 次循环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CBMC / ESBMC：UNKNOWN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Ultimate ~33.94 s；Eva ~1.50 s：SAFE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固定展开 64；单案例耗时不可泛化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WP + Z3 / CVC5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两次独立运行均报告 4/4 义务通过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 WP 编码；solver_report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 Skipped RTE guards 警告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 Rocq proof_check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正确证明 VERIFIED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错配命题 / Admitted 均 REJECTED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kernel_checked；不是 C SAFE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VeriRuntime  ·  docs/operations.md#validation  /  ">
            <a:extLst xmlns:a="http://schemas.openxmlformats.org/drawingml/2006/main">
              <a:ext uri="{FF2B5EF4-FFF2-40B4-BE49-F238E27FC236}">
                <a16:creationId xmlns:a16="http://schemas.microsoft.com/office/drawing/2014/main" id="{E2DC0AFD-289E-426E-9084-3E3C26DC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15500"/>
            <a:ext cx="1438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VeriRuntime  ·  docs/operations.md#validation  /  docs/verifier-lab.json</a:t>
            </a:r>
          </a:p>
        </p:txBody>
      </p:sp>
      <p:sp>
        <p:nvSpPr>
          <p:cNvPr id="6" name="16 / 22">
            <a:extLst xmlns:a="http://schemas.openxmlformats.org/drawingml/2006/main">
              <a:ext uri="{FF2B5EF4-FFF2-40B4-BE49-F238E27FC236}">
                <a16:creationId xmlns:a16="http://schemas.microsoft.com/office/drawing/2014/main" id="{64351C03-3EE0-4884-ADC2-9C9F76C1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96774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725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16 / 22</a:t>
            </a:r>
          </a:p>
        </p:txBody>
      </p:sp>
    </p:spTree>
    <p:extLst>
      <p:ext uri="{BB962C8B-B14F-4D97-AF65-F5344CB8AC3E}">
        <p14:creationId xmlns:p14="http://schemas.microsoft.com/office/powerpoint/2010/main" val="14882414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D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16 / 当前留白">
            <a:extLst xmlns:a="http://schemas.openxmlformats.org/drawingml/2006/main">
              <a:ext uri="{FF2B5EF4-FFF2-40B4-BE49-F238E27FC236}">
                <a16:creationId xmlns:a16="http://schemas.microsoft.com/office/drawing/2014/main" id="{D38EB841-A2CA-480E-ABD9-B5B3AAC8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645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16 / 当前留白</a:t>
            </a:r>
          </a:p>
        </p:txBody>
      </p:sp>
      <p:sp>
        <p:nvSpPr>
          <p:cNvPr id="2" name="成本、预算与复用仍是可研究的原型">
            <a:extLst xmlns:a="http://schemas.openxmlformats.org/drawingml/2006/main">
              <a:ext uri="{FF2B5EF4-FFF2-40B4-BE49-F238E27FC236}">
                <a16:creationId xmlns:a16="http://schemas.microsoft.com/office/drawing/2014/main" id="{95AB6FB0-69FF-4778-B7F7-4531FBA6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5375"/>
            <a:ext cx="164592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成本、预算与复用仍是可研究的原型</a:t>
            </a:r>
          </a:p>
        </p:txBody>
      </p:sp>
      <p:sp>
        <p:nvSpPr>
          <p:cNvPr id="3" name="已有接口可用；下列限制需要实验数据与新语义来推进">
            <a:extLst xmlns:a="http://schemas.openxmlformats.org/drawingml/2006/main">
              <a:ext uri="{FF2B5EF4-FFF2-40B4-BE49-F238E27FC236}">
                <a16:creationId xmlns:a16="http://schemas.microsoft.com/office/drawing/2014/main" id="{241FBE84-CB56-408E-86C2-7DFF7764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638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已有接口可用；下列限制需要实验数据与新语义来推进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914400" y="2781300"/>
          <a:ext xmlns:a="http://schemas.openxmlformats.org/drawingml/2006/main" cx="16459200" cy="6172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905250"/>
                <a:gridCol w="6096000"/>
                <a:gridCol w="6457950"/>
              </a:tblGrid>
              <a:tr h="102870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当前做法</a:t>
                      </a:r>
                    </a:p>
                  </a:txBody>
                  <a:tcPr marL="91440" marR="91440" marT="45720" marB="45720" anchor="ctr">
                    <a:solidFill>
                      <a:srgbClr val="1A3A7A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实际限制</a:t>
                      </a:r>
                    </a:p>
                  </a:txBody>
                  <a:tcPr marL="91440" marR="91440" marT="45720" marB="45720" anchor="ctr">
                    <a:solidFill>
                      <a:srgbClr val="1A3A7A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可以检验的研究问题</a:t>
                      </a:r>
                    </a:p>
                  </a:txBody>
                  <a:tcPr marL="91440" marR="91440" marT="45720" marB="45720" anchor="ctr">
                    <a:solidFill>
                      <a:srgbClr val="1A3A7A"/>
                    </a:solidFill>
                  </a:tcPr>
                </a:tc>
              </a:tr>
              <a:tr h="102870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确定率 / 中位耗时启发式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粗粒度 tiny 桶；提前取消造成样本偏差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在固定证据门槛下，怎样降低超时率？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等分时间片 / 静态内存份额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无法跨阶段借用资源；ready goals 串行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动态资源借用是否增加完成率？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精确目标缓存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不复用部分证明、VC 或 witness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工件粒度复用怎样保持语义身份？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能力矩阵 + 六个小案例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memory_safety 已解析但无可用 adapter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无法支持广泛性能或健全性结论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扩大语料并验证解析器与结果边界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Local backend + Docker 包装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远程 staging / 环境资格尚未定义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在不同 backend 上如何保持证据一致？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VeriRuntime  ·  veriruntime/optimizer.py  /  verir">
            <a:extLst xmlns:a="http://schemas.openxmlformats.org/drawingml/2006/main">
              <a:ext uri="{FF2B5EF4-FFF2-40B4-BE49-F238E27FC236}">
                <a16:creationId xmlns:a16="http://schemas.microsoft.com/office/drawing/2014/main" id="{24A4C8C8-6E80-4BDB-BA45-B4EF26C5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15500"/>
            <a:ext cx="1438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VeriRuntime  ·  veriruntime/optimizer.py  /  veriruntime/cache.py</a:t>
            </a:r>
          </a:p>
        </p:txBody>
      </p:sp>
      <p:sp>
        <p:nvSpPr>
          <p:cNvPr id="6" name="17 / 22">
            <a:extLst xmlns:a="http://schemas.openxmlformats.org/drawingml/2006/main">
              <a:ext uri="{FF2B5EF4-FFF2-40B4-BE49-F238E27FC236}">
                <a16:creationId xmlns:a16="http://schemas.microsoft.com/office/drawing/2014/main" id="{0291EDD9-C8D9-44E1-90C6-D7CD8655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96774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725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17 / 22</a:t>
            </a:r>
          </a:p>
        </p:txBody>
      </p:sp>
    </p:spTree>
    <p:extLst>
      <p:ext uri="{BB962C8B-B14F-4D97-AF65-F5344CB8AC3E}">
        <p14:creationId xmlns:p14="http://schemas.microsoft.com/office/powerpoint/2010/main" val="160619709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D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17 / 已实现的强证据积木">
            <a:extLst xmlns:a="http://schemas.openxmlformats.org/drawingml/2006/main">
              <a:ext uri="{FF2B5EF4-FFF2-40B4-BE49-F238E27FC236}">
                <a16:creationId xmlns:a16="http://schemas.microsoft.com/office/drawing/2014/main" id="{5ACD3ED7-0A8B-408E-ADA7-641DD525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645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17 / 已实现的强证据积木</a:t>
            </a:r>
          </a:p>
        </p:txBody>
      </p:sp>
      <p:sp>
        <p:nvSpPr>
          <p:cNvPr id="2" name="Rocq 检查上层写好的命题与证明">
            <a:extLst xmlns:a="http://schemas.openxmlformats.org/drawingml/2006/main">
              <a:ext uri="{FF2B5EF4-FFF2-40B4-BE49-F238E27FC236}">
                <a16:creationId xmlns:a16="http://schemas.microsoft.com/office/drawing/2014/main" id="{156FE50D-BEC8-4559-BB50-D2E98B9F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5375"/>
            <a:ext cx="164592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Rocq 检查上层写好的命题与证明</a:t>
            </a:r>
          </a:p>
        </p:txBody>
      </p:sp>
      <p:sp>
        <p:nvSpPr>
          <p:cNvPr id="3" name="可执行 version=0.2 / proof_check；上层负责 .v，运行时负责检查">
            <a:extLst xmlns:a="http://schemas.openxmlformats.org/drawingml/2006/main">
              <a:ext uri="{FF2B5EF4-FFF2-40B4-BE49-F238E27FC236}">
                <a16:creationId xmlns:a16="http://schemas.microsoft.com/office/drawing/2014/main" id="{A2BC4DFD-FD48-415F-8EAE-570B175E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638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可执行 version=0.2 / proof_check；上层负责 .v，运行时负责检查</a:t>
            </a:r>
          </a:p>
        </p:txBody>
      </p:sp>
      <p:sp>
        <p:nvSpPr>
          <p:cNvPr id="4" name="Expected.v + Correct.v 节选">
            <a:extLst xmlns:a="http://schemas.openxmlformats.org/drawingml/2006/main">
              <a:ext uri="{FF2B5EF4-FFF2-40B4-BE49-F238E27FC236}">
                <a16:creationId xmlns:a16="http://schemas.microsoft.com/office/drawing/2014/main" id="{9FC75B60-6EA1-46F6-9A10-2D48F0EE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67025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Expected.v + Correct.v 节选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4E524-27BD-4C7C-B15A-B079FFC6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62325"/>
            <a:ext cx="8096250" cy="464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D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6" name="(* Expected.v *)&#10;Definition obligation : Prop :=&#10; ">
            <a:extLst xmlns:a="http://schemas.openxmlformats.org/drawingml/2006/main">
              <a:ext uri="{FF2B5EF4-FFF2-40B4-BE49-F238E27FC236}">
                <a16:creationId xmlns:a16="http://schemas.microsoft.com/office/drawing/2014/main" id="{ADCD4785-EF8D-4462-9A0C-00D30EA3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33775"/>
            <a:ext cx="763905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(* Expected.v *)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Definition obligation : Prop :=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forall (P : Prop), P -&gt; 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(* Correct.v *)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From VRGoal Require Import Expected.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Lemma discharge : Expected.obligation.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Proof.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unfold Expected.obligation.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intros P evidence. exact evidence.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Qed.</a:t>
            </a:r>
          </a:p>
        </p:txBody>
      </p:sp>
      <p:sp>
        <p:nvSpPr>
          <p:cNvPr id="7" name="proof_check DSL 的核心字段">
            <a:extLst xmlns:a="http://schemas.openxmlformats.org/drawingml/2006/main">
              <a:ext uri="{FF2B5EF4-FFF2-40B4-BE49-F238E27FC236}">
                <a16:creationId xmlns:a16="http://schemas.microsoft.com/office/drawing/2014/main" id="{73664D7F-A20D-49CE-9D43-6E5B5598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67025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proof_check DSL 的核心字段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BBAD95-F776-4A0A-8506-6C4EDD7D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62325"/>
            <a:ext cx="7848600" cy="464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D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9" name="&quot;goal&quot;: {&#10;  &quot;kind&quot;: &quot;proof_check&quot;, &quot;namespace&quot;:&quot;VR">
            <a:extLst xmlns:a="http://schemas.openxmlformats.org/drawingml/2006/main">
              <a:ext uri="{FF2B5EF4-FFF2-40B4-BE49-F238E27FC236}">
                <a16:creationId xmlns:a16="http://schemas.microsoft.com/office/drawing/2014/main" id="{AC3F8793-0041-43A0-8572-B46F2768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33775"/>
            <a:ext cx="739140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"goal": {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"kind": "proof_check", "namespace":"VRGoal",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"statement": {"file":"Expected.v",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  "symbol":"VRGoal.Expected.obligation"},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"proof": {"language":"Rocq",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  "files":["Correct.v"],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  "symbol":"VRGoal.Correct.discharge"}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},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"requirements": {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"evidence":"kernel_checked", "axioms":[]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输出 VERIFIED / code_verdict=null；不增加 C 家族票，不进入 C 结果">
            <a:extLst xmlns:a="http://schemas.openxmlformats.org/drawingml/2006/main">
              <a:ext uri="{FF2B5EF4-FFF2-40B4-BE49-F238E27FC236}">
                <a16:creationId xmlns:a16="http://schemas.microsoft.com/office/drawing/2014/main" id="{1072777B-EC38-4420-ACCC-A696ECAF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686800"/>
            <a:ext cx="1638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输出 VERIFIED / code_verdict=null；不增加 C 家族票，不进入 C 结果缓存。</a:t>
            </a:r>
          </a:p>
        </p:txBody>
      </p:sp>
      <p:sp>
        <p:nvSpPr>
          <p:cNvPr id="11" name="VeriRuntime  ·  examples/proofs/check.json  /  exa">
            <a:extLst xmlns:a="http://schemas.openxmlformats.org/drawingml/2006/main">
              <a:ext uri="{FF2B5EF4-FFF2-40B4-BE49-F238E27FC236}">
                <a16:creationId xmlns:a16="http://schemas.microsoft.com/office/drawing/2014/main" id="{37A559B2-481D-4D11-8D28-D3EDBC57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15500"/>
            <a:ext cx="1438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VeriRuntime  ·  examples/proofs/check.json  /  examples/proofs/Expected.v</a:t>
            </a:r>
          </a:p>
        </p:txBody>
      </p:sp>
      <p:sp>
        <p:nvSpPr>
          <p:cNvPr id="12" name="18 / 22">
            <a:extLst xmlns:a="http://schemas.openxmlformats.org/drawingml/2006/main">
              <a:ext uri="{FF2B5EF4-FFF2-40B4-BE49-F238E27FC236}">
                <a16:creationId xmlns:a16="http://schemas.microsoft.com/office/drawing/2014/main" id="{BEEB719C-8A0B-403F-B702-847815EB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96774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725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18 / 22</a:t>
            </a:r>
          </a:p>
        </p:txBody>
      </p:sp>
    </p:spTree>
    <p:extLst>
      <p:ext uri="{BB962C8B-B14F-4D97-AF65-F5344CB8AC3E}">
        <p14:creationId xmlns:p14="http://schemas.microsoft.com/office/powerpoint/2010/main" val="10135258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D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18 / 证明绑定">
            <a:extLst xmlns:a="http://schemas.openxmlformats.org/drawingml/2006/main">
              <a:ext uri="{FF2B5EF4-FFF2-40B4-BE49-F238E27FC236}">
                <a16:creationId xmlns:a16="http://schemas.microsoft.com/office/drawing/2014/main" id="{B1C8E686-F827-4B39-AF5A-4660AB41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645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18 / 证明绑定</a:t>
            </a:r>
          </a:p>
        </p:txBody>
      </p:sp>
      <p:sp>
        <p:nvSpPr>
          <p:cNvPr id="2" name="编译通过之外，还要绑定类型与审计假设">
            <a:extLst xmlns:a="http://schemas.openxmlformats.org/drawingml/2006/main">
              <a:ext uri="{FF2B5EF4-FFF2-40B4-BE49-F238E27FC236}">
                <a16:creationId xmlns:a16="http://schemas.microsoft.com/office/drawing/2014/main" id="{BA8A10D3-B79E-414B-B2AB-606A90A0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5375"/>
            <a:ext cx="164592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编译通过之外，还要绑定类型与审计假设</a:t>
            </a:r>
          </a:p>
        </p:txBody>
      </p:sp>
      <p:sp>
        <p:nvSpPr>
          <p:cNvPr id="3" name="当前闭合策略：拒绝用户 Axiom / Parameter / Admitted 与未核验扩展">
            <a:extLst xmlns:a="http://schemas.openxmlformats.org/drawingml/2006/main">
              <a:ext uri="{FF2B5EF4-FFF2-40B4-BE49-F238E27FC236}">
                <a16:creationId xmlns:a16="http://schemas.microsoft.com/office/drawing/2014/main" id="{94801BDA-376C-4AB4-95BA-E231458F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638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当前闭合策略：拒绝用户 Axiom / Parameter / Admitted 与未核验扩展</a:t>
            </a:r>
          </a:p>
        </p:txBody>
      </p:sp>
      <p:sp>
        <p:nvSpPr>
          <p:cNvPr id="4" name="依赖排序编译 → 精确类型绑定 → 假设闭包审计 → rocq check 复查">
            <a:extLst xmlns:a="http://schemas.openxmlformats.org/drawingml/2006/main">
              <a:ext uri="{FF2B5EF4-FFF2-40B4-BE49-F238E27FC236}">
                <a16:creationId xmlns:a16="http://schemas.microsoft.com/office/drawing/2014/main" id="{9103ED0A-8529-4248-B406-E632D6F4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62275"/>
            <a:ext cx="1619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依赖排序编译 → 精确类型绑定 → 假设闭包审计 → rocq check 复查</a:t>
            </a:r>
          </a:p>
        </p:txBody>
      </p:sp>
      <p:sp>
        <p:nvSpPr>
          <p:cNvPr id="5" name="运行时生成 Binding.v；它只检查已有证明是否匹配">
            <a:extLst xmlns:a="http://schemas.openxmlformats.org/drawingml/2006/main">
              <a:ext uri="{FF2B5EF4-FFF2-40B4-BE49-F238E27FC236}">
                <a16:creationId xmlns:a16="http://schemas.microsoft.com/office/drawing/2014/main" id="{E15D547B-1FAE-426A-95D6-D705DFC6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5775"/>
            <a:ext cx="1645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运行时生成 Binding.v；它只检查已有证明是否匹配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A4E6A-F845-4F8E-97E6-D0E27879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91075"/>
            <a:ext cx="16459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D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7" name="Definition required_statement : Prop :=&#10;  VRGoal.E">
            <a:extLst xmlns:a="http://schemas.openxmlformats.org/drawingml/2006/main">
              <a:ext uri="{FF2B5EF4-FFF2-40B4-BE49-F238E27FC236}">
                <a16:creationId xmlns:a16="http://schemas.microsoft.com/office/drawing/2014/main" id="{5310B680-E2B5-4553-B4DE-74D30427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62525"/>
            <a:ext cx="160020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5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Definition required_statement : Prop :=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5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5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VRGoal.Expected.obligation.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5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5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Definition bound_proof : required_statement :=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5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5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VRGoal.Correct.discharge.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914400" y="7429500"/>
          <a:ext xmlns:a="http://schemas.openxmlformats.org/drawingml/2006/main" cx="16459200" cy="17716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572000"/>
                <a:gridCol w="3238500"/>
                <a:gridCol w="8648700"/>
              </a:tblGrid>
              <a:tr h="59055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提交内容</a:t>
                      </a:r>
                    </a:p>
                  </a:txBody>
                  <a:tcPr marL="91440" marR="91440" marT="45720" marB="45720" anchor="ctr">
                    <a:solidFill>
                      <a:srgbClr val="1A3A7A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真实检查结果</a:t>
                      </a:r>
                    </a:p>
                  </a:txBody>
                  <a:tcPr marL="91440" marR="91440" marT="45720" marB="45720" anchor="ctr">
                    <a:solidFill>
                      <a:srgbClr val="1A3A7A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</a:t>
                      </a:r>
                    </a:p>
                  </a:txBody>
                  <a:tcPr marL="91440" marR="91440" marT="45720" marB="45720" anchor="ctr">
                    <a:solidFill>
                      <a:srgbClr val="1A3A7A"/>
                    </a:solidFill>
                  </a:tcPr>
                </a:tc>
              </a:tr>
              <a:tr h="59055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02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正确证明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02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VERIFIED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02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提交证明建立了提交命题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02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错配命题 / Admitted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02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REJECTED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025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proof_type_mismatch / untrusted_axioms_or_extensions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VeriRuntime  ·  veriruntime/proofs/worker.py  /  v">
            <a:extLst xmlns:a="http://schemas.openxmlformats.org/drawingml/2006/main">
              <a:ext uri="{FF2B5EF4-FFF2-40B4-BE49-F238E27FC236}">
                <a16:creationId xmlns:a16="http://schemas.microsoft.com/office/drawing/2014/main" id="{3FE93CA7-B289-43D1-859C-291ECF31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15500"/>
            <a:ext cx="1438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VeriRuntime  ·  veriruntime/proofs/worker.py  /  veriruntime/proofs/dsl.py</a:t>
            </a:r>
          </a:p>
        </p:txBody>
      </p:sp>
      <p:sp>
        <p:nvSpPr>
          <p:cNvPr id="10" name="19 / 22">
            <a:extLst xmlns:a="http://schemas.openxmlformats.org/drawingml/2006/main">
              <a:ext uri="{FF2B5EF4-FFF2-40B4-BE49-F238E27FC236}">
                <a16:creationId xmlns:a16="http://schemas.microsoft.com/office/drawing/2014/main" id="{08E883A7-6F8E-4059-B771-A6216E55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96774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725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19 / 22</a:t>
            </a:r>
          </a:p>
        </p:txBody>
      </p:sp>
    </p:spTree>
    <p:extLst>
      <p:ext uri="{BB962C8B-B14F-4D97-AF65-F5344CB8AC3E}">
        <p14:creationId xmlns:p14="http://schemas.microsoft.com/office/powerpoint/2010/main" val="13963323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D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19 / 未来设计 · 尚未实现">
            <a:extLst xmlns:a="http://schemas.openxmlformats.org/drawingml/2006/main">
              <a:ext uri="{FF2B5EF4-FFF2-40B4-BE49-F238E27FC236}">
                <a16:creationId xmlns:a16="http://schemas.microsoft.com/office/drawing/2014/main" id="{663D9E50-327A-4AA4-838A-71ED109F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645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19 / 未来设计 · 尚未实现</a:t>
            </a:r>
          </a:p>
        </p:txBody>
      </p:sp>
      <p:sp>
        <p:nvSpPr>
          <p:cNvPr id="2" name="C → VC → 上层证明 → 覆盖闭包">
            <a:extLst xmlns:a="http://schemas.openxmlformats.org/drawingml/2006/main">
              <a:ext uri="{FF2B5EF4-FFF2-40B4-BE49-F238E27FC236}">
                <a16:creationId xmlns:a16="http://schemas.microsoft.com/office/drawing/2014/main" id="{A139A7FD-4177-4042-805A-5E8DBD7F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5375"/>
            <a:ext cx="164592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C → VC → 上层证明 → 覆盖闭包</a:t>
            </a:r>
          </a:p>
        </p:txBody>
      </p:sp>
      <p:sp>
        <p:nvSpPr>
          <p:cNvPr id="3" name="不能把 Frama-C 与 Rocq 简单串联后当作两票 C SAFE">
            <a:extLst xmlns:a="http://schemas.openxmlformats.org/drawingml/2006/main">
              <a:ext uri="{FF2B5EF4-FFF2-40B4-BE49-F238E27FC236}">
                <a16:creationId xmlns:a16="http://schemas.microsoft.com/office/drawing/2014/main" id="{6797F352-84B9-4DF3-A972-F758A03E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638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不能把 Frama-C 与 Rocq 简单串联后当作两票 C SAFE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B73EEF-75BD-421C-AD75-D31C6281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533775"/>
            <a:ext cx="1104900" cy="9525"/>
          </a:xfrm>
          <a:custGeom xmlns:a="http://schemas.openxmlformats.org/drawingml/2006/main">
            <a:pathLst>
              <a:path w="1104900" h="9525">
                <a:moveTo>
                  <a:pt x="0" y="0"/>
                </a:moveTo>
                <a:lnTo>
                  <a:pt x="1104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A3A7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28713-95F6-4523-835A-5F0E64D6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57575"/>
            <a:ext cx="190500" cy="152400"/>
          </a:xfrm>
          <a:custGeom xmlns:a="http://schemas.openxmlformats.org/drawingml/2006/main">
            <a:pathLst>
              <a:path w="190500" h="152400">
                <a:moveTo>
                  <a:pt x="19050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1A3A7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9A42E-2015-4E17-B04B-6505AA14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3533775"/>
            <a:ext cx="1104900" cy="9525"/>
          </a:xfrm>
          <a:custGeom xmlns:a="http://schemas.openxmlformats.org/drawingml/2006/main">
            <a:pathLst>
              <a:path w="1104900" h="9525">
                <a:moveTo>
                  <a:pt x="0" y="0"/>
                </a:moveTo>
                <a:lnTo>
                  <a:pt x="1104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A3A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0DCE8-746C-4F6F-9EE6-417AA5D3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457575"/>
            <a:ext cx="190500" cy="152400"/>
          </a:xfrm>
          <a:custGeom xmlns:a="http://schemas.openxmlformats.org/drawingml/2006/main">
            <a:pathLst>
              <a:path w="190500" h="152400">
                <a:moveTo>
                  <a:pt x="19050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1A3A7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1E952-2930-4972-A2F8-9CF68E4F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29100"/>
            <a:ext cx="4552950" cy="1466850"/>
          </a:xfrm>
          <a:custGeom xmlns:a="http://schemas.openxmlformats.org/drawingml/2006/main">
            <a:pathLst>
              <a:path w="4552950" h="1466850">
                <a:moveTo>
                  <a:pt x="4552950" y="0"/>
                </a:moveTo>
                <a:lnTo>
                  <a:pt x="4552950" y="666750"/>
                </a:lnTo>
                <a:lnTo>
                  <a:pt x="0" y="666750"/>
                </a:lnTo>
                <a:lnTo>
                  <a:pt x="0" y="14668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A3A7A"/>
            </a:solidFill>
            <a:prstDash val="dash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0D80EC-09AB-491A-BCD3-A6AC3740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505450"/>
            <a:ext cx="152400" cy="190500"/>
          </a:xfrm>
          <a:custGeom xmlns:a="http://schemas.openxmlformats.org/drawingml/2006/main">
            <a:pathLst>
              <a:path w="152400" h="190500">
                <a:moveTo>
                  <a:pt x="76200" y="190500"/>
                </a:moveTo>
                <a:lnTo>
                  <a:pt x="1524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A3A7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5486B1-FA72-4A21-91FC-58B39D52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448425"/>
            <a:ext cx="1104900" cy="9525"/>
          </a:xfrm>
          <a:custGeom xmlns:a="http://schemas.openxmlformats.org/drawingml/2006/main">
            <a:pathLst>
              <a:path w="1104900" h="9525">
                <a:moveTo>
                  <a:pt x="11049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A3A7A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A7ABD-E4CB-4C3B-8082-4C9956E6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372225"/>
            <a:ext cx="190500" cy="152400"/>
          </a:xfrm>
          <a:custGeom xmlns:a="http://schemas.openxmlformats.org/drawingml/2006/main">
            <a:pathLst>
              <a:path w="190500" h="152400">
                <a:moveTo>
                  <a:pt x="0" y="76200"/>
                </a:moveTo>
                <a:lnTo>
                  <a:pt x="190500" y="152400"/>
                </a:lnTo>
                <a:lnTo>
                  <a:pt x="190500" y="0"/>
                </a:lnTo>
                <a:close/>
              </a:path>
            </a:pathLst>
          </a:custGeom>
          <a:solidFill xmlns:a="http://schemas.openxmlformats.org/drawingml/2006/main">
            <a:srgbClr val="1A3A7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7F834-0109-41F5-9144-E0DAE694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790950"/>
            <a:ext cx="14420850" cy="4457700"/>
          </a:xfrm>
          <a:custGeom xmlns:a="http://schemas.openxmlformats.org/drawingml/2006/main">
            <a:pathLst>
              <a:path w="14420850" h="4457700">
                <a:moveTo>
                  <a:pt x="0" y="3762375"/>
                </a:moveTo>
                <a:lnTo>
                  <a:pt x="0" y="4457700"/>
                </a:lnTo>
                <a:lnTo>
                  <a:pt x="14420850" y="4457700"/>
                </a:lnTo>
                <a:lnTo>
                  <a:pt x="14420850" y="0"/>
                </a:lnTo>
                <a:lnTo>
                  <a:pt x="14077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A3A7A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B5F1D8-CEC6-4ECD-802C-26F3F687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0" y="3714750"/>
            <a:ext cx="190500" cy="152400"/>
          </a:xfrm>
          <a:custGeom xmlns:a="http://schemas.openxmlformats.org/drawingml/2006/main">
            <a:pathLst>
              <a:path w="190500" h="152400">
                <a:moveTo>
                  <a:pt x="0" y="76200"/>
                </a:moveTo>
                <a:lnTo>
                  <a:pt x="190500" y="152400"/>
                </a:lnTo>
                <a:lnTo>
                  <a:pt x="190500" y="0"/>
                </a:lnTo>
                <a:close/>
              </a:path>
            </a:pathLst>
          </a:custGeom>
          <a:solidFill xmlns:a="http://schemas.openxmlformats.org/drawingml/2006/main">
            <a:srgbClr val="1A3A7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5BA9C4-B7EC-489F-95EE-6120D15B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4229100"/>
            <a:ext cx="9525" cy="1466850"/>
          </a:xfrm>
          <a:custGeom xmlns:a="http://schemas.openxmlformats.org/drawingml/2006/main">
            <a:pathLst>
              <a:path w="9525" h="1466850">
                <a:moveTo>
                  <a:pt x="0" y="0"/>
                </a:moveTo>
                <a:lnTo>
                  <a:pt x="0" y="14668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A3A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C34419-4B92-4AD4-9336-9762BCA1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5505450"/>
            <a:ext cx="152400" cy="190500"/>
          </a:xfrm>
          <a:custGeom xmlns:a="http://schemas.openxmlformats.org/drawingml/2006/main">
            <a:pathLst>
              <a:path w="152400" h="190500">
                <a:moveTo>
                  <a:pt x="76200" y="190500"/>
                </a:moveTo>
                <a:lnTo>
                  <a:pt x="1524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A3A7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422CC3-AE3B-4E9C-A9C5-3D48EEF1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4762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D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17" name="上层：C + ACSL + 语义&#10;要求 kernel_checked / 全覆盖">
            <a:extLst xmlns:a="http://schemas.openxmlformats.org/drawingml/2006/main">
              <a:ext uri="{FF2B5EF4-FFF2-40B4-BE49-F238E27FC236}">
                <a16:creationId xmlns:a16="http://schemas.microsoft.com/office/drawing/2014/main" id="{C2A7DEAB-EBE1-43D6-8ED1-209C3526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2295"/>
            <a:ext cx="4495800" cy="918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上层：C + ACSL + 语义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要求 kernel_checked / 全覆盖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60E092-F672-40EE-A77B-A3068CF5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38450"/>
            <a:ext cx="4762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19" name="WP / Why3 导出&#10;权威 VC bundle + digest">
            <a:extLst xmlns:a="http://schemas.openxmlformats.org/drawingml/2006/main">
              <a:ext uri="{FF2B5EF4-FFF2-40B4-BE49-F238E27FC236}">
                <a16:creationId xmlns:a16="http://schemas.microsoft.com/office/drawing/2014/main" id="{A8984A6E-A48E-43FB-A955-728D34A5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22295"/>
            <a:ext cx="4495800" cy="918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WP / Why3 导出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权威 VC bundle + digest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F6B267-CD15-4B14-90E1-DAD50180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2838450"/>
            <a:ext cx="47244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21" name="检查每个 VC 的证据&#10;绑定 / 假设 / 内核">
            <a:extLst xmlns:a="http://schemas.openxmlformats.org/drawingml/2006/main">
              <a:ext uri="{FF2B5EF4-FFF2-40B4-BE49-F238E27FC236}">
                <a16:creationId xmlns:a16="http://schemas.microsoft.com/office/drawing/2014/main" id="{27F20898-6B08-4DFF-B65B-259F24D8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3122295"/>
            <a:ext cx="4457700" cy="918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检查每个 VC 的证据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绑定 / 假设 / 内核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9EE0F7-103F-4A05-B70C-2E993136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695950"/>
            <a:ext cx="4762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D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23" name="NEEDS_INPUT&#10;未完成 VC + 命题模块&#10;diagnostics / 环境锁">
            <a:extLst xmlns:a="http://schemas.openxmlformats.org/drawingml/2006/main">
              <a:ext uri="{FF2B5EF4-FFF2-40B4-BE49-F238E27FC236}">
                <a16:creationId xmlns:a16="http://schemas.microsoft.com/office/drawing/2014/main" id="{A7C18F79-10BB-49FC-B642-D40B3E14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869781"/>
            <a:ext cx="4495800" cy="1252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0">
                <a:solidFill>
                  <a:srgbClr val="8A6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8A6A1A"/>
                </a:solidFill>
                <a:latin typeface="Microsoft YaHei"/>
                <a:ea typeface="Microsoft YaHei"/>
                <a:cs typeface="Microsoft YaHei"/>
              </a:rPr>
              <a:t>NEEDS_INPUT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250" b="0">
                <a:solidFill>
                  <a:srgbClr val="8A6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8A6A1A"/>
                </a:solidFill>
                <a:latin typeface="Microsoft YaHei"/>
                <a:ea typeface="Microsoft YaHei"/>
                <a:cs typeface="Microsoft YaHei"/>
              </a:rPr>
              <a:t>未完成 VC + 命题模块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250" b="0">
                <a:solidFill>
                  <a:srgbClr val="8A6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8A6A1A"/>
                </a:solidFill>
                <a:latin typeface="Microsoft YaHei"/>
                <a:ea typeface="Microsoft YaHei"/>
                <a:cs typeface="Microsoft YaHei"/>
              </a:rPr>
              <a:t>diagnostics / 环境锁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9934C6-F4C9-4CB2-9277-DF0FDFF8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47625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D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25" name="人 / 上层 LLM&#10;编写 .v 与辅助引理&#10;提交绑定 bundle 的 proof_assets">
            <a:extLst xmlns:a="http://schemas.openxmlformats.org/drawingml/2006/main">
              <a:ext uri="{FF2B5EF4-FFF2-40B4-BE49-F238E27FC236}">
                <a16:creationId xmlns:a16="http://schemas.microsoft.com/office/drawing/2014/main" id="{185B4EF7-85C5-48D7-9C0C-4B2FF932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45994"/>
            <a:ext cx="4495800" cy="1252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人 / 上层 LLM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2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编写 .v 与辅助引理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2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提交绑定 bundle 的 proof_assets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D7180C-21C4-4305-BEFE-04022313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5695950"/>
            <a:ext cx="47244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D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27" name="Coverage linker&#10;全部请求义务及依赖闭合&#10;才返回 CONTRACT_VALID">
            <a:extLst xmlns:a="http://schemas.openxmlformats.org/drawingml/2006/main">
              <a:ext uri="{FF2B5EF4-FFF2-40B4-BE49-F238E27FC236}">
                <a16:creationId xmlns:a16="http://schemas.microsoft.com/office/drawing/2014/main" id="{B4136792-2F2A-43C5-BB44-5ADFAE78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6045994"/>
            <a:ext cx="4457700" cy="1252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0">
                <a:solidFill>
                  <a:srgbClr val="1A5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A5A2A"/>
                </a:solidFill>
                <a:latin typeface="Microsoft YaHei"/>
                <a:ea typeface="Microsoft YaHei"/>
                <a:cs typeface="Microsoft YaHei"/>
              </a:rPr>
              <a:t>Coverage linker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250" b="0">
                <a:solidFill>
                  <a:srgbClr val="1A5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A5A2A"/>
                </a:solidFill>
                <a:latin typeface="Microsoft YaHei"/>
                <a:ea typeface="Microsoft YaHei"/>
                <a:cs typeface="Microsoft YaHei"/>
              </a:rPr>
              <a:t>全部请求义务及依赖闭合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250" b="0">
                <a:solidFill>
                  <a:srgbClr val="1A5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A5A2A"/>
                </a:solidFill>
                <a:latin typeface="Microsoft YaHei"/>
                <a:ea typeface="Microsoft YaHei"/>
                <a:cs typeface="Microsoft YaHei"/>
              </a:rPr>
              <a:t>才返回 CONTRACT_VALID</a:t>
            </a:r>
          </a:p>
        </p:txBody>
      </p:sp>
      <p:sp>
        <p:nvSpPr>
          <p:cNvPr id="28" name="等待补证时释放容器；上层下一次显式提交。结论仍相对于契约前置条件。">
            <a:extLst xmlns:a="http://schemas.openxmlformats.org/drawingml/2006/main">
              <a:ext uri="{FF2B5EF4-FFF2-40B4-BE49-F238E27FC236}">
                <a16:creationId xmlns:a16="http://schemas.microsoft.com/office/drawing/2014/main" id="{C1A6EDD5-B00F-48C9-BD23-0BBDF919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820150"/>
            <a:ext cx="1619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等待补证时释放容器；上层下一次显式提交。结论仍相对于契约前置条件。</a:t>
            </a:r>
          </a:p>
        </p:txBody>
      </p:sp>
      <p:sp>
        <p:nvSpPr>
          <p:cNvPr id="29" name="VeriRuntime  ·  docs/advanced.md#framac-rocq-desig">
            <a:extLst xmlns:a="http://schemas.openxmlformats.org/drawingml/2006/main">
              <a:ext uri="{FF2B5EF4-FFF2-40B4-BE49-F238E27FC236}">
                <a16:creationId xmlns:a16="http://schemas.microsoft.com/office/drawing/2014/main" id="{6AC98740-2B4A-48E6-93A5-0DB2B9C4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15500"/>
            <a:ext cx="1438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VeriRuntime  ·  docs/advanced.md#framac-rocq-design  /  examples/experiments/strong-contract.proposed.json</a:t>
            </a:r>
          </a:p>
        </p:txBody>
      </p:sp>
      <p:sp>
        <p:nvSpPr>
          <p:cNvPr id="30" name="20 / 22">
            <a:extLst xmlns:a="http://schemas.openxmlformats.org/drawingml/2006/main">
              <a:ext uri="{FF2B5EF4-FFF2-40B4-BE49-F238E27FC236}">
                <a16:creationId xmlns:a16="http://schemas.microsoft.com/office/drawing/2014/main" id="{450E5F54-0CA1-495E-817F-15EC7C7C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96774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725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20 / 22</a:t>
            </a:r>
          </a:p>
        </p:txBody>
      </p:sp>
    </p:spTree>
    <p:extLst>
      <p:ext uri="{BB962C8B-B14F-4D97-AF65-F5344CB8AC3E}">
        <p14:creationId xmlns:p14="http://schemas.microsoft.com/office/powerpoint/2010/main" val="16550599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D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20 / 未来 DSL · 当前拒绝该版本">
            <a:extLst xmlns:a="http://schemas.openxmlformats.org/drawingml/2006/main">
              <a:ext uri="{FF2B5EF4-FFF2-40B4-BE49-F238E27FC236}">
                <a16:creationId xmlns:a16="http://schemas.microsoft.com/office/drawing/2014/main" id="{0827410C-11EF-4904-85D8-292D11FD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645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20 / 未来 DSL · 当前拒绝该版本</a:t>
            </a:r>
          </a:p>
        </p:txBody>
      </p:sp>
      <p:sp>
        <p:nvSpPr>
          <p:cNvPr id="2" name="表达证据强度与覆盖，附带命题绑定">
            <a:extLst xmlns:a="http://schemas.openxmlformats.org/drawingml/2006/main">
              <a:ext uri="{FF2B5EF4-FFF2-40B4-BE49-F238E27FC236}">
                <a16:creationId xmlns:a16="http://schemas.microsoft.com/office/drawing/2014/main" id="{2ACAC957-70C4-4DF4-B586-81D4E6D6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5375"/>
            <a:ext cx="164592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表达证据强度与覆盖，附带命题绑定</a:t>
            </a:r>
          </a:p>
        </p:txBody>
      </p:sp>
      <p:sp>
        <p:nvSpPr>
          <p:cNvPr id="3" name="version=0.2-proposal / c_contract 是设计稿，不能直接传给当前 ve">
            <a:extLst xmlns:a="http://schemas.openxmlformats.org/drawingml/2006/main">
              <a:ext uri="{FF2B5EF4-FFF2-40B4-BE49-F238E27FC236}">
                <a16:creationId xmlns:a16="http://schemas.microsoft.com/office/drawing/2014/main" id="{653F5D08-4ECB-456D-B7AA-D554BB72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638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version=0.2-proposal / c_contract 是设计稿，不能直接传给当前 verify</a:t>
            </a:r>
          </a:p>
        </p:txBody>
      </p:sp>
      <p:sp>
        <p:nvSpPr>
          <p:cNvPr id="4" name="第一轮：声明 C 契约目标与所需证据">
            <a:extLst xmlns:a="http://schemas.openxmlformats.org/drawingml/2006/main">
              <a:ext uri="{FF2B5EF4-FFF2-40B4-BE49-F238E27FC236}">
                <a16:creationId xmlns:a16="http://schemas.microsoft.com/office/drawing/2014/main" id="{12DECA3B-6E73-46F1-8813-56AD8BC3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第一轮：声明 C 契约目标与所需证据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86952-AD94-4BB3-9B4F-2C9FE223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8096250" cy="517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D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6" name="{&#10;  &quot;version&quot;:&quot;0.2-proposal&quot;,&#10;  &quot;goal&quot;: {&#10;    &quot;kin">
            <a:extLst xmlns:a="http://schemas.openxmlformats.org/drawingml/2006/main">
              <a:ext uri="{FF2B5EF4-FFF2-40B4-BE49-F238E27FC236}">
                <a16:creationId xmlns:a16="http://schemas.microsoft.com/office/drawing/2014/main" id="{260BDDB8-AE76-4E5D-A9F7-ADE81BAC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7639050" cy="490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"version":"0.2-proposal",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"goal": {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  "kind":"c_contract", "program":{...},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  "contract":{"format":"ACSL", ...},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  "semantics":{"integer_arithmetic":"bounded_c",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               "memory":"iso_c_objects", ...}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},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"requirements": {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  "evidence":"kernel_checked",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  "coverage":["contract","runtime_errors"],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  "user_axioms":[]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},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"proof_assets":[], "budget":{...}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第二轮：补交 .v；结构节选">
            <a:extLst xmlns:a="http://schemas.openxmlformats.org/drawingml/2006/main">
              <a:ext uri="{FF2B5EF4-FFF2-40B4-BE49-F238E27FC236}">
                <a16:creationId xmlns:a16="http://schemas.microsoft.com/office/drawing/2014/main" id="{84E740D0-273A-4E41-9421-B189F580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765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第二轮：补交 .v；结构节选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BCD4F7-F4A7-40EC-90AF-0D38B963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71850"/>
            <a:ext cx="78486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D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9" name="&quot;proof_assets&quot;: [{&#10;  &quot;format&quot;:&quot;Rocq&quot;, &quot;files&quot;:[&quot;Sq">
            <a:extLst xmlns:a="http://schemas.openxmlformats.org/drawingml/2006/main">
              <a:ext uri="{FF2B5EF4-FFF2-40B4-BE49-F238E27FC236}">
                <a16:creationId xmlns:a16="http://schemas.microsoft.com/office/drawing/2014/main" id="{990ADCCB-E0EF-4B10-AAB5-CFDED0E4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43300"/>
            <a:ext cx="73914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"proof_assets": [{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"format":"Rocq", "files":["SquareProof.v"],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"bundle":{"artifact_id":"&lt;sealed digest&gt;"},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"bindings":[{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  "obligation_id":"typed_square_ensures",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  "statement_sha256":"&lt;权威命题 digest&gt;",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  "proof_symbol":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    "SquareProof.square_nonnegative"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  }]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9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}]</a:t>
            </a:r>
          </a:p>
        </p:txBody>
      </p:sp>
      <p:sp>
        <p:nvSpPr>
          <p:cNvPr id="10" name="仍不指定工具或顺序；过期 bundle、&#10;命题错配、遗漏新增 VC 均须拒绝。">
            <a:extLst xmlns:a="http://schemas.openxmlformats.org/drawingml/2006/main">
              <a:ext uri="{FF2B5EF4-FFF2-40B4-BE49-F238E27FC236}">
                <a16:creationId xmlns:a16="http://schemas.microsoft.com/office/drawing/2014/main" id="{0FFCC848-CC77-4377-A4FE-81B8F53B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791450"/>
            <a:ext cx="7848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仍不指定工具或顺序；过期 bundle、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命题错配、遗漏新增 VC 均须拒绝。</a:t>
            </a:r>
          </a:p>
        </p:txBody>
      </p:sp>
      <p:sp>
        <p:nvSpPr>
          <p:cNvPr id="11" name="VeriRuntime  ·  examples/experiments/strong-contra">
            <a:extLst xmlns:a="http://schemas.openxmlformats.org/drawingml/2006/main">
              <a:ext uri="{FF2B5EF4-FFF2-40B4-BE49-F238E27FC236}">
                <a16:creationId xmlns:a16="http://schemas.microsoft.com/office/drawing/2014/main" id="{0039D90E-046A-4803-8660-8F9C3FA4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15500"/>
            <a:ext cx="1438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VeriRuntime  ·  examples/experiments/strong-contract.proposed.json  /  docs/advanced.md#framac-rocq-design</a:t>
            </a:r>
          </a:p>
        </p:txBody>
      </p:sp>
      <p:sp>
        <p:nvSpPr>
          <p:cNvPr id="12" name="21 / 22">
            <a:extLst xmlns:a="http://schemas.openxmlformats.org/drawingml/2006/main">
              <a:ext uri="{FF2B5EF4-FFF2-40B4-BE49-F238E27FC236}">
                <a16:creationId xmlns:a16="http://schemas.microsoft.com/office/drawing/2014/main" id="{92414DC8-5088-4A8D-9A80-E3972665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96774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725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21 / 22</a:t>
            </a:r>
          </a:p>
        </p:txBody>
      </p:sp>
    </p:spTree>
    <p:extLst>
      <p:ext uri="{BB962C8B-B14F-4D97-AF65-F5344CB8AC3E}">
        <p14:creationId xmlns:p14="http://schemas.microsoft.com/office/powerpoint/2010/main" val="140699880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D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21 / 后续研究与复现">
            <a:extLst xmlns:a="http://schemas.openxmlformats.org/drawingml/2006/main">
              <a:ext uri="{FF2B5EF4-FFF2-40B4-BE49-F238E27FC236}">
                <a16:creationId xmlns:a16="http://schemas.microsoft.com/office/drawing/2014/main" id="{6B4CAAC0-24FE-4660-907F-F77C31FA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645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21 / 后续研究与复现</a:t>
            </a:r>
          </a:p>
        </p:txBody>
      </p:sp>
      <p:sp>
        <p:nvSpPr>
          <p:cNvPr id="2" name="先验证强证据闭包，再评估调度收益">
            <a:extLst xmlns:a="http://schemas.openxmlformats.org/drawingml/2006/main">
              <a:ext uri="{FF2B5EF4-FFF2-40B4-BE49-F238E27FC236}">
                <a16:creationId xmlns:a16="http://schemas.microsoft.com/office/drawing/2014/main" id="{8774DA79-AB5C-4847-AE4F-7693BADD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5375"/>
            <a:ext cx="164592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先验证强证据闭包，再评估调度收益</a:t>
            </a:r>
          </a:p>
        </p:txBody>
      </p:sp>
      <p:sp>
        <p:nvSpPr>
          <p:cNvPr id="3" name="把研究结论约束在固定命题、固定预算与固定信任要求之内">
            <a:extLst xmlns:a="http://schemas.openxmlformats.org/drawingml/2006/main">
              <a:ext uri="{FF2B5EF4-FFF2-40B4-BE49-F238E27FC236}">
                <a16:creationId xmlns:a16="http://schemas.microsoft.com/office/drawing/2014/main" id="{3B7DD7E0-6548-4B6D-A04D-112DEA80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638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把研究结论约束在固定命题、固定预算与固定信任要求之内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914400" y="2781300"/>
          <a:ext xmlns:a="http://schemas.openxmlformats.org/drawingml/2006/main" cx="16459200" cy="4572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33750"/>
                <a:gridCol w="7048500"/>
                <a:gridCol w="6076950"/>
              </a:tblGrid>
              <a:tr h="114300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优先级</a:t>
                      </a:r>
                    </a:p>
                  </a:txBody>
                  <a:tcPr marL="91440" marR="91440" marT="45720" marB="45720" anchor="ctr">
                    <a:solidFill>
                      <a:srgbClr val="1A3A7A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可落地实验</a:t>
                      </a:r>
                    </a:p>
                  </a:txBody>
                  <a:tcPr marL="91440" marR="91440" marT="45720" marB="45720" anchor="ctr">
                    <a:solidFill>
                      <a:srgbClr val="1A3A7A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验收指标</a:t>
                      </a:r>
                    </a:p>
                  </a:txBody>
                  <a:tcPr marL="91440" marR="91440" marT="45720" marB="45720" anchor="ctr">
                    <a:solidFill>
                      <a:srgbClr val="1A3A7A"/>
                    </a:solidFill>
                  </a:tcPr>
                </a:tc>
              </a:tr>
              <a:tr h="114300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 · 权威 VC 与 coverage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一个函数子集：封存全部 VC / 理论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错配、漏证、过期、额外假设负例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覆盖率；错误接受为零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可追溯的 C → VC → proof 来源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· 调度与资源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扩大语料；静态 portfolio 作对照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处理超时 / 取消样本；消融成本模型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固定门槛下的完成率 / wall time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超时率 / 峰值资源 / 校准误差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 · 工件缓存与后端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VC / proof 粒度复用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显式 staging / 身份 / 清理契约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0" tIns="152400" rIns="190500" bIns="15240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语义变更失效；后端证据一致性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2250" b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故障后无泄漏、可恢复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本机已有镜像：一次命令复现双确认与缓存">
            <a:extLst xmlns:a="http://schemas.openxmlformats.org/drawingml/2006/main">
              <a:ext uri="{FF2B5EF4-FFF2-40B4-BE49-F238E27FC236}">
                <a16:creationId xmlns:a16="http://schemas.microsoft.com/office/drawing/2014/main" id="{F331652D-D1F7-4232-B1BF-BE0E14BA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20025"/>
            <a:ext cx="1645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本机已有镜像：一次命令复现双确认与缓存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E6CE9-4019-48EC-B524-685858E4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15325"/>
            <a:ext cx="164592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D"/>
          </a:solidFill>
          <a:ln xmlns:a="http://schemas.openxmlformats.org/drawingml/2006/main" w="9525">
            <a:solidFill>
              <a:srgbClr val="C6C4BC"/>
            </a:solidFill>
            <a:prstDash val="solid"/>
          </a:ln>
        </p:spPr>
      </p:sp>
      <p:sp>
        <p:nvSpPr>
          <p:cNvPr id="7" name="pwsh -NoProfile -File scripts/quickstart.ps1">
            <a:extLst xmlns:a="http://schemas.openxmlformats.org/drawingml/2006/main">
              <a:ext uri="{FF2B5EF4-FFF2-40B4-BE49-F238E27FC236}">
                <a16:creationId xmlns:a16="http://schemas.microsoft.com/office/drawing/2014/main" id="{6BF06597-7B56-4080-82F5-427282BB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486775"/>
            <a:ext cx="1600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0">
                <a:solidFill>
                  <a:srgbClr val="0A0A0A"/>
                </a:solidFill>
                <a:latin typeface="Consolas"/>
                <a:ea typeface="Consolas"/>
                <a:cs typeface="Consolas"/>
              </a:defRPr>
            </a:pPr>
            <a:r>
              <a:rPr sz="2550" b="0">
                <a:solidFill>
                  <a:srgbClr val="0A0A0A"/>
                </a:solidFill>
                <a:latin typeface="Consolas"/>
                <a:ea typeface="Consolas"/>
                <a:cs typeface="Consolas"/>
              </a:rPr>
              <a:t>pwsh -NoProfile -File scripts/quickstart.ps1</a:t>
            </a:r>
          </a:p>
        </p:txBody>
      </p:sp>
      <p:sp>
        <p:nvSpPr>
          <p:cNvPr id="8" name="VeriRuntime  ·  README.md#example  /  scripts/quic">
            <a:extLst xmlns:a="http://schemas.openxmlformats.org/drawingml/2006/main">
              <a:ext uri="{FF2B5EF4-FFF2-40B4-BE49-F238E27FC236}">
                <a16:creationId xmlns:a16="http://schemas.microsoft.com/office/drawing/2014/main" id="{B56A7FA4-C707-4D2F-895D-DACDAD82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15500"/>
            <a:ext cx="1438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VeriRuntime  ·  README.md#example  /  scripts/quickstart.ps1</a:t>
            </a:r>
          </a:p>
        </p:txBody>
      </p:sp>
      <p:sp>
        <p:nvSpPr>
          <p:cNvPr id="9" name="22 / 22">
            <a:extLst xmlns:a="http://schemas.openxmlformats.org/drawingml/2006/main">
              <a:ext uri="{FF2B5EF4-FFF2-40B4-BE49-F238E27FC236}">
                <a16:creationId xmlns:a16="http://schemas.microsoft.com/office/drawing/2014/main" id="{46AE37EE-78C9-41B0-B82F-76B8EFBF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96774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725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22 / 22</a:t>
            </a:r>
          </a:p>
        </p:txBody>
      </p:sp>
    </p:spTree>
    <p:extLst>
      <p:ext uri="{BB962C8B-B14F-4D97-AF65-F5344CB8AC3E}">
        <p14:creationId xmlns:p14="http://schemas.microsoft.com/office/powerpoint/2010/main" val="2170635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2026-10-06T14:44:03.9160000Z</dcterms:created>
  <dcterms:modified xsi:type="dcterms:W3CDTF">2026-10-06T14:44:03.9160000Z</dcterms:modified>
</coreProperties>
</file>